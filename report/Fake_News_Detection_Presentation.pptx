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61838" cy="6858000"/>
  <p:notesSz cx="6858000" cy="1216183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9" d="100"/>
          <a:sy n="79" d="100"/>
        </p:scale>
        <p:origin x="172"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729815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2194560"/>
            <a:ext cx="10515600" cy="1463040"/>
          </a:xfrm>
          <a:prstGeom prst="rect">
            <a:avLst/>
          </a:prstGeom>
          <a:noFill/>
          <a:ln/>
        </p:spPr>
        <p:txBody>
          <a:bodyPr wrap="square" lIns="0" tIns="0" rIns="0" bIns="0" rtlCol="0" anchor="ctr"/>
          <a:lstStyle/>
          <a:p>
            <a:pPr marL="0" indent="0" algn="l">
              <a:lnSpc>
                <a:spcPts val="4000"/>
              </a:lnSpc>
              <a:buNone/>
            </a:pPr>
            <a:r>
              <a:rPr lang="en-US" sz="3400" b="1" dirty="0">
                <a:solidFill>
                  <a:srgbClr val="1E2A44"/>
                </a:solidFill>
                <a:latin typeface="Cambria" pitchFamily="34" charset="0"/>
                <a:ea typeface="Cambria" pitchFamily="34" charset="-122"/>
                <a:cs typeface="Cambria" pitchFamily="34" charset="-120"/>
              </a:rPr>
              <a:t>Fake News Detection Using</a:t>
            </a:r>
            <a:endParaRPr lang="en-US" sz="3400" dirty="0"/>
          </a:p>
          <a:p>
            <a:pPr marL="0" indent="0" algn="l">
              <a:lnSpc>
                <a:spcPts val="4000"/>
              </a:lnSpc>
              <a:buNone/>
            </a:pPr>
            <a:r>
              <a:rPr lang="en-US" sz="3400" b="1" dirty="0">
                <a:solidFill>
                  <a:srgbClr val="1E2A44"/>
                </a:solidFill>
                <a:latin typeface="Cambria" pitchFamily="34" charset="0"/>
                <a:ea typeface="Cambria" pitchFamily="34" charset="-122"/>
                <a:cs typeface="Cambria" pitchFamily="34" charset="-120"/>
              </a:rPr>
              <a:t>Natural Language Processing</a:t>
            </a:r>
            <a:endParaRPr lang="en-US" sz="3400" dirty="0"/>
          </a:p>
        </p:txBody>
      </p:sp>
      <p:sp>
        <p:nvSpPr>
          <p:cNvPr id="3" name="Text 1"/>
          <p:cNvSpPr/>
          <p:nvPr/>
        </p:nvSpPr>
        <p:spPr>
          <a:xfrm>
            <a:off x="822960" y="3611880"/>
            <a:ext cx="10515600" cy="457200"/>
          </a:xfrm>
          <a:prstGeom prst="rect">
            <a:avLst/>
          </a:prstGeom>
          <a:noFill/>
          <a:ln/>
        </p:spPr>
        <p:txBody>
          <a:bodyPr wrap="square" lIns="0" tIns="0" rIns="0" bIns="0" rtlCol="0" anchor="ctr"/>
          <a:lstStyle/>
          <a:p>
            <a:pPr marL="0" indent="0" algn="l">
              <a:buNone/>
            </a:pPr>
            <a:r>
              <a:rPr lang="en-US" sz="1700" i="1" dirty="0">
                <a:solidFill>
                  <a:srgbClr val="666666"/>
                </a:solidFill>
                <a:latin typeface="Calibri" pitchFamily="34" charset="0"/>
                <a:ea typeface="Calibri" pitchFamily="34" charset="-122"/>
                <a:cs typeface="Calibri" pitchFamily="34" charset="-120"/>
              </a:rPr>
              <a:t>A Comparative Study of Text Representations and Classification Models</a:t>
            </a:r>
            <a:endParaRPr lang="en-US" sz="1700" dirty="0"/>
          </a:p>
        </p:txBody>
      </p:sp>
      <p:sp>
        <p:nvSpPr>
          <p:cNvPr id="4" name="Shape 2"/>
          <p:cNvSpPr/>
          <p:nvPr/>
        </p:nvSpPr>
        <p:spPr>
          <a:xfrm>
            <a:off x="548640" y="4297680"/>
            <a:ext cx="11064240" cy="0"/>
          </a:xfrm>
          <a:prstGeom prst="line">
            <a:avLst/>
          </a:prstGeom>
          <a:noFill/>
          <a:ln w="12700">
            <a:solidFill>
              <a:srgbClr val="CCCCCC"/>
            </a:solidFill>
            <a:prstDash val="solid"/>
          </a:ln>
        </p:spPr>
      </p:sp>
      <p:sp>
        <p:nvSpPr>
          <p:cNvPr id="5" name="Text 3"/>
          <p:cNvSpPr/>
          <p:nvPr/>
        </p:nvSpPr>
        <p:spPr>
          <a:xfrm>
            <a:off x="822960" y="4434840"/>
            <a:ext cx="10515600" cy="320040"/>
          </a:xfrm>
          <a:prstGeom prst="rect">
            <a:avLst/>
          </a:prstGeom>
          <a:noFill/>
          <a:ln/>
        </p:spPr>
        <p:txBody>
          <a:bodyPr wrap="square" lIns="0" tIns="0" rIns="0" bIns="0" rtlCol="0" anchor="ctr"/>
          <a:lstStyle/>
          <a:p>
            <a:pPr marL="0" indent="0" algn="l">
              <a:buNone/>
            </a:pPr>
            <a:r>
              <a:rPr lang="en-US" sz="1600" dirty="0">
                <a:solidFill>
                  <a:srgbClr val="1A1A1A"/>
                </a:solidFill>
                <a:latin typeface="Calibri" pitchFamily="34" charset="0"/>
                <a:ea typeface="Calibri" pitchFamily="34" charset="-122"/>
                <a:cs typeface="Calibri" pitchFamily="34" charset="-120"/>
              </a:rPr>
              <a:t>Summer Internship Program in AI &amp; ML, 2026</a:t>
            </a:r>
            <a:endParaRPr lang="en-US" sz="1600" dirty="0"/>
          </a:p>
        </p:txBody>
      </p:sp>
      <p:sp>
        <p:nvSpPr>
          <p:cNvPr id="6" name="Text 4"/>
          <p:cNvSpPr/>
          <p:nvPr/>
        </p:nvSpPr>
        <p:spPr>
          <a:xfrm>
            <a:off x="822960" y="4754880"/>
            <a:ext cx="10515600" cy="320040"/>
          </a:xfrm>
          <a:prstGeom prst="rect">
            <a:avLst/>
          </a:prstGeom>
          <a:noFill/>
          <a:ln/>
        </p:spPr>
        <p:txBody>
          <a:bodyPr wrap="square" lIns="0" tIns="0" rIns="0" bIns="0" rtlCol="0" anchor="ctr"/>
          <a:lstStyle/>
          <a:p>
            <a:pPr marL="0" indent="0" algn="l">
              <a:buNone/>
            </a:pPr>
            <a:r>
              <a:rPr lang="en-US" sz="1300" dirty="0">
                <a:solidFill>
                  <a:srgbClr val="666666"/>
                </a:solidFill>
                <a:latin typeface="Calibri" pitchFamily="34" charset="0"/>
                <a:ea typeface="Calibri" pitchFamily="34" charset="-122"/>
                <a:cs typeface="Calibri" pitchFamily="34" charset="-120"/>
              </a:rPr>
              <a:t>Indian Institute of Computing and Technology</a:t>
            </a:r>
            <a:endParaRPr lang="en-US" sz="1300" dirty="0"/>
          </a:p>
        </p:txBody>
      </p:sp>
      <p:sp>
        <p:nvSpPr>
          <p:cNvPr id="7" name="TextBox 6">
            <a:extLst>
              <a:ext uri="{FF2B5EF4-FFF2-40B4-BE49-F238E27FC236}">
                <a16:creationId xmlns:a16="http://schemas.microsoft.com/office/drawing/2014/main" id="{16F647CA-43A6-9B3A-530F-1DA8C14B6C5A}"/>
              </a:ext>
            </a:extLst>
          </p:cNvPr>
          <p:cNvSpPr txBox="1"/>
          <p:nvPr/>
        </p:nvSpPr>
        <p:spPr>
          <a:xfrm>
            <a:off x="9065341" y="5681746"/>
            <a:ext cx="2418226" cy="646331"/>
          </a:xfrm>
          <a:prstGeom prst="rect">
            <a:avLst/>
          </a:prstGeom>
          <a:noFill/>
        </p:spPr>
        <p:txBody>
          <a:bodyPr wrap="none" rtlCol="0">
            <a:spAutoFit/>
          </a:bodyPr>
          <a:lstStyle/>
          <a:p>
            <a:r>
              <a:rPr lang="en-IN" dirty="0">
                <a:solidFill>
                  <a:srgbClr val="1A1A1A"/>
                </a:solidFill>
                <a:latin typeface="Calibri" pitchFamily="34" charset="0"/>
                <a:ea typeface="Calibri" pitchFamily="34" charset="-122"/>
                <a:cs typeface="Calibri" pitchFamily="34" charset="-120"/>
              </a:rPr>
              <a:t>Name: Samay Talwar</a:t>
            </a:r>
          </a:p>
          <a:p>
            <a:r>
              <a:rPr lang="en-IN" dirty="0" err="1">
                <a:solidFill>
                  <a:srgbClr val="1A1A1A"/>
                </a:solidFill>
                <a:latin typeface="Calibri" pitchFamily="34" charset="0"/>
                <a:ea typeface="Calibri" pitchFamily="34" charset="-122"/>
                <a:cs typeface="Calibri" pitchFamily="34" charset="-120"/>
              </a:rPr>
              <a:t>Enrollment</a:t>
            </a:r>
            <a:r>
              <a:rPr lang="en-IN" dirty="0">
                <a:solidFill>
                  <a:srgbClr val="1A1A1A"/>
                </a:solidFill>
                <a:latin typeface="Calibri" pitchFamily="34" charset="0"/>
                <a:ea typeface="Calibri" pitchFamily="34" charset="-122"/>
                <a:cs typeface="Calibri" pitchFamily="34" charset="-120"/>
              </a:rPr>
              <a:t> No.: 854216</a:t>
            </a:r>
          </a:p>
        </p:txBody>
      </p:sp>
      <p:pic>
        <p:nvPicPr>
          <p:cNvPr id="9" name="Picture 8">
            <a:extLst>
              <a:ext uri="{FF2B5EF4-FFF2-40B4-BE49-F238E27FC236}">
                <a16:creationId xmlns:a16="http://schemas.microsoft.com/office/drawing/2014/main" id="{0032A5A0-81E0-6A00-0D70-A1FAC4CAB194}"/>
              </a:ext>
            </a:extLst>
          </p:cNvPr>
          <p:cNvPicPr>
            <a:picLocks noChangeAspect="1"/>
          </p:cNvPicPr>
          <p:nvPr/>
        </p:nvPicPr>
        <p:blipFill>
          <a:blip r:embed="rId3"/>
          <a:stretch>
            <a:fillRect/>
          </a:stretch>
        </p:blipFill>
        <p:spPr>
          <a:xfrm>
            <a:off x="8131668" y="487718"/>
            <a:ext cx="3886023" cy="257461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137160"/>
            <a:ext cx="11064240" cy="274320"/>
          </a:xfrm>
          <a:prstGeom prst="rect">
            <a:avLst/>
          </a:prstGeom>
          <a:noFill/>
          <a:ln/>
        </p:spPr>
        <p:txBody>
          <a:bodyPr wrap="square" lIns="0" tIns="0" rIns="0" bIns="0" rtlCol="0" anchor="ctr"/>
          <a:lstStyle/>
          <a:p>
            <a:pPr marL="0" indent="0" algn="l">
              <a:buNone/>
            </a:pPr>
            <a:r>
              <a:rPr lang="en-US" sz="1100" b="1" kern="0" spc="100" dirty="0">
                <a:solidFill>
                  <a:srgbClr val="666666"/>
                </a:solidFill>
                <a:latin typeface="Calibri" pitchFamily="34" charset="0"/>
                <a:ea typeface="Calibri" pitchFamily="34" charset="-122"/>
                <a:cs typeface="Calibri" pitchFamily="34" charset="-120"/>
              </a:rPr>
              <a:t>INTRODUCTION</a:t>
            </a:r>
            <a:endParaRPr lang="en-US" sz="1100" dirty="0"/>
          </a:p>
        </p:txBody>
      </p:sp>
      <p:sp>
        <p:nvSpPr>
          <p:cNvPr id="3" name="Text 1"/>
          <p:cNvSpPr/>
          <p:nvPr/>
        </p:nvSpPr>
        <p:spPr>
          <a:xfrm>
            <a:off x="548640" y="365760"/>
            <a:ext cx="11064240" cy="731520"/>
          </a:xfrm>
          <a:prstGeom prst="rect">
            <a:avLst/>
          </a:prstGeom>
          <a:noFill/>
          <a:ln/>
        </p:spPr>
        <p:txBody>
          <a:bodyPr wrap="square" lIns="0" tIns="0" rIns="0" bIns="0" rtlCol="0" anchor="ctr"/>
          <a:lstStyle/>
          <a:p>
            <a:pPr marL="0" indent="0" algn="l">
              <a:buNone/>
            </a:pPr>
            <a:r>
              <a:rPr lang="en-US" sz="2800" b="1" dirty="0">
                <a:solidFill>
                  <a:srgbClr val="1E2A44"/>
                </a:solidFill>
                <a:latin typeface="Cambria" pitchFamily="34" charset="0"/>
                <a:ea typeface="Cambria" pitchFamily="34" charset="-122"/>
                <a:cs typeface="Cambria" pitchFamily="34" charset="-120"/>
              </a:rPr>
              <a:t>Problem Statement &amp; Objectives</a:t>
            </a:r>
            <a:endParaRPr lang="en-US" sz="2800" dirty="0"/>
          </a:p>
        </p:txBody>
      </p:sp>
      <p:sp>
        <p:nvSpPr>
          <p:cNvPr id="4" name="Shape 2"/>
          <p:cNvSpPr/>
          <p:nvPr/>
        </p:nvSpPr>
        <p:spPr>
          <a:xfrm>
            <a:off x="548640" y="1143000"/>
            <a:ext cx="11064240" cy="0"/>
          </a:xfrm>
          <a:prstGeom prst="line">
            <a:avLst/>
          </a:prstGeom>
          <a:noFill/>
          <a:ln w="12700">
            <a:solidFill>
              <a:srgbClr val="CCCCCC"/>
            </a:solidFill>
            <a:prstDash val="solid"/>
          </a:ln>
        </p:spPr>
      </p:sp>
      <p:sp>
        <p:nvSpPr>
          <p:cNvPr id="5" name="Text 3"/>
          <p:cNvSpPr/>
          <p:nvPr/>
        </p:nvSpPr>
        <p:spPr>
          <a:xfrm>
            <a:off x="548640" y="2559829"/>
            <a:ext cx="5212080" cy="365760"/>
          </a:xfrm>
          <a:prstGeom prst="rect">
            <a:avLst/>
          </a:prstGeom>
          <a:noFill/>
          <a:ln/>
        </p:spPr>
        <p:txBody>
          <a:bodyPr wrap="square" lIns="0" tIns="0" rIns="0" bIns="0" rtlCol="0" anchor="ctr"/>
          <a:lstStyle/>
          <a:p>
            <a:pPr marL="0" indent="0">
              <a:buNone/>
            </a:pPr>
            <a:r>
              <a:rPr lang="en-US" sz="1600" b="1" dirty="0">
                <a:solidFill>
                  <a:srgbClr val="1E2A44"/>
                </a:solidFill>
                <a:latin typeface="Calibri" pitchFamily="34" charset="0"/>
                <a:ea typeface="Calibri" pitchFamily="34" charset="-122"/>
                <a:cs typeface="Calibri" pitchFamily="34" charset="-120"/>
              </a:rPr>
              <a:t>The Problem</a:t>
            </a:r>
            <a:endParaRPr lang="en-US" sz="1600" dirty="0"/>
          </a:p>
        </p:txBody>
      </p:sp>
      <p:sp>
        <p:nvSpPr>
          <p:cNvPr id="6" name="Text 4"/>
          <p:cNvSpPr/>
          <p:nvPr/>
        </p:nvSpPr>
        <p:spPr>
          <a:xfrm>
            <a:off x="548640" y="2971309"/>
            <a:ext cx="5212080" cy="4389120"/>
          </a:xfrm>
          <a:prstGeom prst="rect">
            <a:avLst/>
          </a:prstGeom>
          <a:noFill/>
          <a:ln/>
        </p:spPr>
        <p:txBody>
          <a:bodyPr wrap="square" lIns="0" tIns="0" rIns="0" bIns="0" rtlCol="0" anchor="t"/>
          <a:lstStyle/>
          <a:p>
            <a:pPr marL="228600" indent="-228600" algn="l">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Misinformation spreads fast through digital platforms, and telling fake from real news requires more than keyword matching.</a:t>
            </a:r>
            <a:endParaRPr lang="en-US" sz="1600" dirty="0"/>
          </a:p>
          <a:p>
            <a:pPr marL="228600" indent="-228600">
              <a:spcAft>
                <a:spcPts val="1000"/>
              </a:spcAft>
              <a:buSzPct val="100000"/>
              <a:buChar char="•"/>
            </a:pPr>
            <a:r>
              <a:rPr lang="en-US" sz="1600" dirty="0"/>
              <a:t>This project builds a complete NLP pipeline from raw CSV files to a systematically compared set of trained classifiers.</a:t>
            </a:r>
          </a:p>
          <a:p>
            <a:pPr marL="228600" indent="-228600">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Every preprocessing decision is checked against the data rather than assumed correct because it's common practice.</a:t>
            </a:r>
            <a:endParaRPr lang="en-US" sz="1600" dirty="0"/>
          </a:p>
        </p:txBody>
      </p:sp>
      <p:sp>
        <p:nvSpPr>
          <p:cNvPr id="7" name="Text 5"/>
          <p:cNvSpPr/>
          <p:nvPr/>
        </p:nvSpPr>
        <p:spPr>
          <a:xfrm>
            <a:off x="6309360" y="2194069"/>
            <a:ext cx="5303520" cy="365760"/>
          </a:xfrm>
          <a:prstGeom prst="rect">
            <a:avLst/>
          </a:prstGeom>
          <a:noFill/>
          <a:ln/>
        </p:spPr>
        <p:txBody>
          <a:bodyPr wrap="square" lIns="0" tIns="0" rIns="0" bIns="0" rtlCol="0" anchor="ctr"/>
          <a:lstStyle/>
          <a:p>
            <a:pPr marL="0" indent="0">
              <a:buNone/>
            </a:pPr>
            <a:r>
              <a:rPr lang="en-US" sz="1600" b="1" dirty="0">
                <a:solidFill>
                  <a:srgbClr val="1E2A44"/>
                </a:solidFill>
                <a:latin typeface="Calibri" pitchFamily="34" charset="0"/>
                <a:ea typeface="Calibri" pitchFamily="34" charset="-122"/>
                <a:cs typeface="Calibri" pitchFamily="34" charset="-120"/>
              </a:rPr>
              <a:t>Objectives</a:t>
            </a:r>
            <a:endParaRPr lang="en-US" sz="1600" dirty="0"/>
          </a:p>
        </p:txBody>
      </p:sp>
      <p:sp>
        <p:nvSpPr>
          <p:cNvPr id="8" name="Text 6"/>
          <p:cNvSpPr/>
          <p:nvPr/>
        </p:nvSpPr>
        <p:spPr>
          <a:xfrm>
            <a:off x="6309360" y="2605549"/>
            <a:ext cx="5303520" cy="4389120"/>
          </a:xfrm>
          <a:prstGeom prst="rect">
            <a:avLst/>
          </a:prstGeom>
          <a:noFill/>
          <a:ln/>
        </p:spPr>
        <p:txBody>
          <a:bodyPr wrap="square" lIns="0" tIns="0" rIns="0" bIns="0" rtlCol="0" anchor="t"/>
          <a:lstStyle/>
          <a:p>
            <a:pPr marL="228600" indent="-228600" algn="l">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Build a complete NLP pipeline for fake news classification</a:t>
            </a:r>
            <a:endParaRPr lang="en-US" sz="1600" dirty="0"/>
          </a:p>
          <a:p>
            <a:pPr marL="228600" indent="-228600" algn="l">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Compare Bag-of-Words, TF-IDF, and Word2Vec under identical conditions</a:t>
            </a:r>
            <a:endParaRPr lang="en-US" sz="1600" dirty="0"/>
          </a:p>
          <a:p>
            <a:pPr marL="228600" indent="-228600" algn="l">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Evaluate four classifiers side by side: KNN, Logistic Regression, Random Forest, Neural Network</a:t>
            </a:r>
            <a:endParaRPr lang="en-US" sz="1600" dirty="0"/>
          </a:p>
          <a:p>
            <a:pPr marL="228600" indent="-228600" algn="l">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Test whether handcrafted features actually improve results, rather than assuming they do</a:t>
            </a:r>
            <a:endParaRPr lang="en-US" sz="1600" dirty="0"/>
          </a:p>
          <a:p>
            <a:pPr marL="228600" indent="-228600" algn="l">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Inspect which words a model relies on, not just its accuracy</a:t>
            </a:r>
            <a:endParaRPr lang="en-US" sz="1600" dirty="0"/>
          </a:p>
        </p:txBody>
      </p:sp>
      <p:sp>
        <p:nvSpPr>
          <p:cNvPr id="9" name="Text 7"/>
          <p:cNvSpPr/>
          <p:nvPr/>
        </p:nvSpPr>
        <p:spPr>
          <a:xfrm>
            <a:off x="11521440" y="6446520"/>
            <a:ext cx="457200" cy="274320"/>
          </a:xfrm>
          <a:prstGeom prst="rect">
            <a:avLst/>
          </a:prstGeom>
          <a:noFill/>
          <a:ln/>
        </p:spPr>
        <p:txBody>
          <a:bodyPr wrap="square" lIns="0" tIns="0" rIns="0" bIns="0" rtlCol="0" anchor="ctr"/>
          <a:lstStyle/>
          <a:p>
            <a:pPr marL="0" indent="0" algn="r">
              <a:buNone/>
            </a:pPr>
            <a:r>
              <a:rPr lang="en-US" sz="1000" dirty="0">
                <a:solidFill>
                  <a:srgbClr val="666666"/>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137160"/>
            <a:ext cx="11064240" cy="274320"/>
          </a:xfrm>
          <a:prstGeom prst="rect">
            <a:avLst/>
          </a:prstGeom>
          <a:noFill/>
          <a:ln/>
        </p:spPr>
        <p:txBody>
          <a:bodyPr wrap="square" lIns="0" tIns="0" rIns="0" bIns="0" rtlCol="0" anchor="ctr"/>
          <a:lstStyle/>
          <a:p>
            <a:pPr marL="0" indent="0" algn="l">
              <a:buNone/>
            </a:pPr>
            <a:r>
              <a:rPr lang="en-US" sz="1100" b="1" kern="0" spc="100" dirty="0">
                <a:solidFill>
                  <a:srgbClr val="666666"/>
                </a:solidFill>
                <a:latin typeface="Calibri" pitchFamily="34" charset="0"/>
                <a:ea typeface="Calibri" pitchFamily="34" charset="-122"/>
                <a:cs typeface="Calibri" pitchFamily="34" charset="-120"/>
              </a:rPr>
              <a:t>DATASET</a:t>
            </a:r>
            <a:endParaRPr lang="en-US" sz="1100" dirty="0"/>
          </a:p>
        </p:txBody>
      </p:sp>
      <p:sp>
        <p:nvSpPr>
          <p:cNvPr id="3" name="Text 1"/>
          <p:cNvSpPr/>
          <p:nvPr/>
        </p:nvSpPr>
        <p:spPr>
          <a:xfrm>
            <a:off x="548640" y="365760"/>
            <a:ext cx="11064240" cy="731520"/>
          </a:xfrm>
          <a:prstGeom prst="rect">
            <a:avLst/>
          </a:prstGeom>
          <a:noFill/>
          <a:ln/>
        </p:spPr>
        <p:txBody>
          <a:bodyPr wrap="square" lIns="0" tIns="0" rIns="0" bIns="0" rtlCol="0" anchor="ctr"/>
          <a:lstStyle/>
          <a:p>
            <a:pPr marL="0" indent="0" algn="l">
              <a:buNone/>
            </a:pPr>
            <a:r>
              <a:rPr lang="en-US" sz="2800" b="1" dirty="0">
                <a:solidFill>
                  <a:srgbClr val="1E2A44"/>
                </a:solidFill>
                <a:latin typeface="Cambria" pitchFamily="34" charset="0"/>
                <a:ea typeface="Cambria" pitchFamily="34" charset="-122"/>
                <a:cs typeface="Cambria" pitchFamily="34" charset="-120"/>
              </a:rPr>
              <a:t>Dataset Overview</a:t>
            </a:r>
            <a:endParaRPr lang="en-US" sz="2800" dirty="0"/>
          </a:p>
        </p:txBody>
      </p:sp>
      <p:sp>
        <p:nvSpPr>
          <p:cNvPr id="4" name="Shape 2"/>
          <p:cNvSpPr/>
          <p:nvPr/>
        </p:nvSpPr>
        <p:spPr>
          <a:xfrm>
            <a:off x="548640" y="1143000"/>
            <a:ext cx="11064240" cy="0"/>
          </a:xfrm>
          <a:prstGeom prst="line">
            <a:avLst/>
          </a:prstGeom>
          <a:noFill/>
          <a:ln w="12700">
            <a:solidFill>
              <a:srgbClr val="CCCCCC"/>
            </a:solidFill>
            <a:prstDash val="solid"/>
          </a:ln>
        </p:spPr>
      </p:sp>
      <p:sp>
        <p:nvSpPr>
          <p:cNvPr id="5" name="Text 3"/>
          <p:cNvSpPr/>
          <p:nvPr/>
        </p:nvSpPr>
        <p:spPr>
          <a:xfrm>
            <a:off x="548640" y="2636028"/>
            <a:ext cx="6035040" cy="4572000"/>
          </a:xfrm>
          <a:prstGeom prst="rect">
            <a:avLst/>
          </a:prstGeom>
          <a:noFill/>
          <a:ln/>
        </p:spPr>
        <p:txBody>
          <a:bodyPr wrap="square" lIns="0" tIns="0" rIns="0" bIns="0" rtlCol="0" anchor="t"/>
          <a:lstStyle/>
          <a:p>
            <a:pPr marL="228600" indent="-228600" algn="l">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Kaggle Fake and Real News dataset, two CSV files: Fake.csv and True.csv</a:t>
            </a:r>
            <a:endParaRPr lang="en-US" sz="1600" dirty="0"/>
          </a:p>
          <a:p>
            <a:pPr marL="228600" indent="-228600" algn="l">
              <a:spcAft>
                <a:spcPts val="1000"/>
              </a:spcAft>
              <a:buSzPct val="100000"/>
              <a:buChar char="•"/>
            </a:pPr>
            <a:r>
              <a:rPr lang="en-US" sz="1600" b="1" dirty="0">
                <a:solidFill>
                  <a:srgbClr val="1E2A44"/>
                </a:solidFill>
                <a:latin typeface="Calibri" pitchFamily="34" charset="0"/>
                <a:ea typeface="Calibri" pitchFamily="34" charset="-122"/>
                <a:cs typeface="Calibri" pitchFamily="34" charset="-120"/>
              </a:rPr>
              <a:t>23,481 Fake articles  +  21,417 True articles  =  44,898 total</a:t>
            </a:r>
            <a:endParaRPr lang="en-US" sz="1600" dirty="0"/>
          </a:p>
          <a:p>
            <a:pPr marL="228600" indent="-228600" algn="l">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Each row: title, article text, subject tag, publication date</a:t>
            </a:r>
            <a:endParaRPr lang="en-US" sz="1600" dirty="0"/>
          </a:p>
          <a:p>
            <a:pPr marL="228600" indent="-228600" algn="l">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Merged, labeled (0 = Fake, 1 = True), and shuffled with a fixed seed</a:t>
            </a:r>
            <a:endParaRPr lang="en-US" sz="1600" dirty="0"/>
          </a:p>
          <a:p>
            <a:pPr marL="228600" indent="-228600" algn="l">
              <a:spcAft>
                <a:spcPts val="400"/>
              </a:spcAft>
              <a:buSzPct val="100000"/>
              <a:buChar char="•"/>
            </a:pPr>
            <a:r>
              <a:rPr lang="en-US" sz="1600" dirty="0">
                <a:solidFill>
                  <a:srgbClr val="1A1A1A"/>
                </a:solidFill>
                <a:latin typeface="Calibri" pitchFamily="34" charset="0"/>
                <a:ea typeface="Calibri" pitchFamily="34" charset="-122"/>
                <a:cs typeface="Calibri" pitchFamily="34" charset="-120"/>
              </a:rPr>
              <a:t>Roughly 52% / 48% split, close enough to balanced, no resampling needed</a:t>
            </a:r>
            <a:endParaRPr lang="en-US" sz="1600" dirty="0"/>
          </a:p>
        </p:txBody>
      </p:sp>
      <p:pic>
        <p:nvPicPr>
          <p:cNvPr id="6" name="Image 0" descr="/home/claude/ppt/images/label_distribution.png"/>
          <p:cNvPicPr>
            <a:picLocks noChangeAspect="1"/>
          </p:cNvPicPr>
          <p:nvPr/>
        </p:nvPicPr>
        <p:blipFill>
          <a:blip r:embed="rId3"/>
          <a:stretch>
            <a:fillRect/>
          </a:stretch>
        </p:blipFill>
        <p:spPr>
          <a:xfrm>
            <a:off x="6949440" y="1554480"/>
            <a:ext cx="4389120" cy="3593592"/>
          </a:xfrm>
          <a:prstGeom prst="rect">
            <a:avLst/>
          </a:prstGeom>
        </p:spPr>
      </p:pic>
      <p:sp>
        <p:nvSpPr>
          <p:cNvPr id="7" name="Text 4"/>
          <p:cNvSpPr/>
          <p:nvPr/>
        </p:nvSpPr>
        <p:spPr>
          <a:xfrm>
            <a:off x="6949440" y="5257800"/>
            <a:ext cx="4389120" cy="274320"/>
          </a:xfrm>
          <a:prstGeom prst="rect">
            <a:avLst/>
          </a:prstGeom>
          <a:noFill/>
          <a:ln/>
        </p:spPr>
        <p:txBody>
          <a:bodyPr wrap="square" lIns="0" tIns="0" rIns="0" bIns="0" rtlCol="0" anchor="ctr"/>
          <a:lstStyle/>
          <a:p>
            <a:pPr marL="0" indent="0" algn="ctr">
              <a:buNone/>
            </a:pPr>
            <a:r>
              <a:rPr lang="en-US" sz="1100" i="1" dirty="0">
                <a:solidFill>
                  <a:srgbClr val="666666"/>
                </a:solidFill>
                <a:latin typeface="Calibri" pitchFamily="34" charset="0"/>
                <a:ea typeface="Calibri" pitchFamily="34" charset="-122"/>
                <a:cs typeface="Calibri" pitchFamily="34" charset="-120"/>
              </a:rPr>
              <a:t>Fig. Class distribution of the merged dataset</a:t>
            </a:r>
            <a:endParaRPr lang="en-US" sz="1100" dirty="0"/>
          </a:p>
        </p:txBody>
      </p:sp>
      <p:sp>
        <p:nvSpPr>
          <p:cNvPr id="8" name="Text 5"/>
          <p:cNvSpPr/>
          <p:nvPr/>
        </p:nvSpPr>
        <p:spPr>
          <a:xfrm>
            <a:off x="11521440" y="6446520"/>
            <a:ext cx="457200" cy="274320"/>
          </a:xfrm>
          <a:prstGeom prst="rect">
            <a:avLst/>
          </a:prstGeom>
          <a:noFill/>
          <a:ln/>
        </p:spPr>
        <p:txBody>
          <a:bodyPr wrap="square" lIns="0" tIns="0" rIns="0" bIns="0" rtlCol="0" anchor="ctr"/>
          <a:lstStyle/>
          <a:p>
            <a:pPr marL="0" indent="0" algn="r">
              <a:buNone/>
            </a:pPr>
            <a:r>
              <a:rPr lang="en-US" sz="1000" dirty="0">
                <a:solidFill>
                  <a:srgbClr val="666666"/>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137160"/>
            <a:ext cx="11064240" cy="274320"/>
          </a:xfrm>
          <a:prstGeom prst="rect">
            <a:avLst/>
          </a:prstGeom>
          <a:noFill/>
          <a:ln/>
        </p:spPr>
        <p:txBody>
          <a:bodyPr wrap="square" lIns="0" tIns="0" rIns="0" bIns="0" rtlCol="0" anchor="ctr"/>
          <a:lstStyle/>
          <a:p>
            <a:pPr marL="0" indent="0" algn="l">
              <a:buNone/>
            </a:pPr>
            <a:r>
              <a:rPr lang="en-US" sz="1100" b="1" kern="0" spc="100" dirty="0">
                <a:solidFill>
                  <a:srgbClr val="666666"/>
                </a:solidFill>
                <a:latin typeface="Calibri" pitchFamily="34" charset="0"/>
                <a:ea typeface="Calibri" pitchFamily="34" charset="-122"/>
                <a:cs typeface="Calibri" pitchFamily="34" charset="-120"/>
              </a:rPr>
              <a:t>DATASET</a:t>
            </a:r>
            <a:endParaRPr lang="en-US" sz="1100" dirty="0"/>
          </a:p>
        </p:txBody>
      </p:sp>
      <p:sp>
        <p:nvSpPr>
          <p:cNvPr id="3" name="Text 1"/>
          <p:cNvSpPr/>
          <p:nvPr/>
        </p:nvSpPr>
        <p:spPr>
          <a:xfrm>
            <a:off x="548640" y="365760"/>
            <a:ext cx="11064240" cy="731520"/>
          </a:xfrm>
          <a:prstGeom prst="rect">
            <a:avLst/>
          </a:prstGeom>
          <a:noFill/>
          <a:ln/>
        </p:spPr>
        <p:txBody>
          <a:bodyPr wrap="square" lIns="0" tIns="0" rIns="0" bIns="0" rtlCol="0" anchor="ctr"/>
          <a:lstStyle/>
          <a:p>
            <a:pPr marL="0" indent="0" algn="l">
              <a:buNone/>
            </a:pPr>
            <a:r>
              <a:rPr lang="en-US" sz="2800" b="1" dirty="0">
                <a:solidFill>
                  <a:srgbClr val="1E2A44"/>
                </a:solidFill>
                <a:latin typeface="Cambria" pitchFamily="34" charset="0"/>
                <a:ea typeface="Cambria" pitchFamily="34" charset="-122"/>
                <a:cs typeface="Cambria" pitchFamily="34" charset="-120"/>
              </a:rPr>
              <a:t>Key Findings Before Any Modeling</a:t>
            </a:r>
            <a:endParaRPr lang="en-US" sz="2800" dirty="0"/>
          </a:p>
        </p:txBody>
      </p:sp>
      <p:sp>
        <p:nvSpPr>
          <p:cNvPr id="4" name="Shape 2"/>
          <p:cNvSpPr/>
          <p:nvPr/>
        </p:nvSpPr>
        <p:spPr>
          <a:xfrm>
            <a:off x="548640" y="1143000"/>
            <a:ext cx="11064240" cy="0"/>
          </a:xfrm>
          <a:prstGeom prst="line">
            <a:avLst/>
          </a:prstGeom>
          <a:noFill/>
          <a:ln w="12700">
            <a:solidFill>
              <a:srgbClr val="CCCCCC"/>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3108960"/>
        </p:xfrm>
        <a:graphic>
          <a:graphicData uri="http://schemas.openxmlformats.org/drawingml/2006/table">
            <a:tbl>
              <a:tblPr/>
              <a:tblGrid>
                <a:gridCol w="237744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621792">
                <a:tc>
                  <a:txBody>
                    <a:bodyPr/>
                    <a:lstStyle/>
                    <a:p>
                      <a:pPr marL="0" indent="0" algn="ctr">
                        <a:buNone/>
                      </a:pPr>
                      <a:r>
                        <a:rPr lang="en-US" sz="1300" b="1" dirty="0">
                          <a:solidFill>
                            <a:srgbClr val="1A1A1A"/>
                          </a:solidFill>
                          <a:latin typeface="Calibri" pitchFamily="34" charset="0"/>
                          <a:ea typeface="Calibri" pitchFamily="34" charset="-122"/>
                          <a:cs typeface="Calibri" pitchFamily="34" charset="-120"/>
                        </a:rPr>
                        <a:t>Observation</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300" b="1" dirty="0">
                          <a:solidFill>
                            <a:srgbClr val="1A1A1A"/>
                          </a:solidFill>
                          <a:latin typeface="Calibri" pitchFamily="34" charset="0"/>
                          <a:ea typeface="Calibri" pitchFamily="34" charset="-122"/>
                          <a:cs typeface="Calibri" pitchFamily="34" charset="-120"/>
                        </a:rPr>
                        <a:t>Finding</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300" b="1" dirty="0">
                          <a:solidFill>
                            <a:srgbClr val="1A1A1A"/>
                          </a:solidFill>
                          <a:latin typeface="Calibri" pitchFamily="34" charset="0"/>
                          <a:ea typeface="Calibri" pitchFamily="34" charset="-122"/>
                          <a:cs typeface="Calibri" pitchFamily="34" charset="-120"/>
                        </a:rPr>
                        <a:t>Decision Made</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extLst>
                  <a:ext uri="{0D108BD9-81ED-4DB2-BD59-A6C34878D82A}">
                    <a16:rowId xmlns:a16="http://schemas.microsoft.com/office/drawing/2014/main" val="10000"/>
                  </a:ext>
                </a:extLst>
              </a:tr>
              <a:tr h="621792">
                <a:tc>
                  <a:txBody>
                    <a:bodyPr/>
                    <a:lstStyle/>
                    <a:p>
                      <a:pPr marL="0" indent="0" algn="l">
                        <a:buNone/>
                      </a:pPr>
                      <a:r>
                        <a:rPr lang="en-US" sz="1300" dirty="0">
                          <a:solidFill>
                            <a:srgbClr val="1A1A1A"/>
                          </a:solidFill>
                          <a:latin typeface="Calibri" pitchFamily="34" charset="0"/>
                          <a:ea typeface="Calibri" pitchFamily="34" charset="-122"/>
                          <a:cs typeface="Calibri" pitchFamily="34" charset="-120"/>
                        </a:rPr>
                        <a:t>Subject column</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Fake spans 6 categories, True spans only 2, a near-perfect proxy for the label</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Dropped (leakage risk)</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21792">
                <a:tc>
                  <a:txBody>
                    <a:bodyPr/>
                    <a:lstStyle/>
                    <a:p>
                      <a:pPr marL="0" indent="0" algn="l">
                        <a:buNone/>
                      </a:pPr>
                      <a:r>
                        <a:rPr lang="en-US" sz="1300" dirty="0">
                          <a:solidFill>
                            <a:srgbClr val="1A1A1A"/>
                          </a:solidFill>
                          <a:latin typeface="Calibri" pitchFamily="34" charset="0"/>
                          <a:ea typeface="Calibri" pitchFamily="34" charset="-122"/>
                          <a:cs typeface="Calibri" pitchFamily="34" charset="-120"/>
                        </a:rPr>
                        <a:t>Missing values</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Zero missing values across every column</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No imputation needed</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lgn="l">
                        <a:buNone/>
                      </a:pPr>
                      <a:r>
                        <a:rPr lang="en-US" sz="1300" dirty="0">
                          <a:solidFill>
                            <a:srgbClr val="1A1A1A"/>
                          </a:solidFill>
                          <a:latin typeface="Calibri" pitchFamily="34" charset="0"/>
                          <a:ea typeface="Calibri" pitchFamily="34" charset="-122"/>
                          <a:cs typeface="Calibri" pitchFamily="34" charset="-120"/>
                        </a:rPr>
                        <a:t>Duplicate rows</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5,793 fully duplicated rows (12.9% of merged data)</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Removed before train/test split</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21792">
                <a:tc>
                  <a:txBody>
                    <a:bodyPr/>
                    <a:lstStyle/>
                    <a:p>
                      <a:pPr marL="0" indent="0" algn="l">
                        <a:buNone/>
                      </a:pPr>
                      <a:r>
                        <a:rPr lang="en-US" sz="1300" dirty="0">
                          <a:solidFill>
                            <a:srgbClr val="1A1A1A"/>
                          </a:solidFill>
                          <a:latin typeface="Calibri" pitchFamily="34" charset="0"/>
                          <a:ea typeface="Calibri" pitchFamily="34" charset="-122"/>
                          <a:cs typeface="Calibri" pitchFamily="34" charset="-120"/>
                        </a:rPr>
                        <a:t>Empty text field</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631 articles blank text, but a usable title</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Combined title + text</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ext 3"/>
          <p:cNvSpPr/>
          <p:nvPr/>
        </p:nvSpPr>
        <p:spPr>
          <a:xfrm>
            <a:off x="548640" y="5120640"/>
            <a:ext cx="11064240" cy="457200"/>
          </a:xfrm>
          <a:prstGeom prst="rect">
            <a:avLst/>
          </a:prstGeom>
          <a:noFill/>
          <a:ln/>
        </p:spPr>
        <p:txBody>
          <a:bodyPr wrap="square" lIns="0" tIns="0" rIns="0" bIns="0" rtlCol="0" anchor="ctr"/>
          <a:lstStyle/>
          <a:p>
            <a:pPr marL="0" indent="0">
              <a:buNone/>
            </a:pPr>
            <a:r>
              <a:rPr lang="en-US" sz="1600" i="1" dirty="0">
                <a:latin typeface="Calibri" pitchFamily="34" charset="0"/>
                <a:ea typeface="Calibri" pitchFamily="34" charset="-122"/>
                <a:cs typeface="Calibri" pitchFamily="34" charset="-120"/>
              </a:rPr>
              <a:t>Catching these early, before vectorizing anything, kept the later train/test split honest.</a:t>
            </a:r>
            <a:endParaRPr lang="en-US" sz="1600" dirty="0"/>
          </a:p>
        </p:txBody>
      </p:sp>
      <p:sp>
        <p:nvSpPr>
          <p:cNvPr id="7" name="Text 4"/>
          <p:cNvSpPr/>
          <p:nvPr/>
        </p:nvSpPr>
        <p:spPr>
          <a:xfrm>
            <a:off x="11521440" y="6446520"/>
            <a:ext cx="457200" cy="274320"/>
          </a:xfrm>
          <a:prstGeom prst="rect">
            <a:avLst/>
          </a:prstGeom>
          <a:noFill/>
          <a:ln/>
        </p:spPr>
        <p:txBody>
          <a:bodyPr wrap="square" lIns="0" tIns="0" rIns="0" bIns="0" rtlCol="0" anchor="ctr"/>
          <a:lstStyle/>
          <a:p>
            <a:pPr marL="0" indent="0" algn="r">
              <a:buNone/>
            </a:pPr>
            <a:r>
              <a:rPr lang="en-US" sz="1000" dirty="0">
                <a:solidFill>
                  <a:srgbClr val="666666"/>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137160"/>
            <a:ext cx="11064240" cy="274320"/>
          </a:xfrm>
          <a:prstGeom prst="rect">
            <a:avLst/>
          </a:prstGeom>
          <a:noFill/>
          <a:ln/>
        </p:spPr>
        <p:txBody>
          <a:bodyPr wrap="square" lIns="0" tIns="0" rIns="0" bIns="0" rtlCol="0" anchor="ctr"/>
          <a:lstStyle/>
          <a:p>
            <a:pPr marL="0" indent="0" algn="l">
              <a:buNone/>
            </a:pPr>
            <a:r>
              <a:rPr lang="en-US" sz="1100" b="1" kern="0" spc="100" dirty="0">
                <a:solidFill>
                  <a:srgbClr val="666666"/>
                </a:solidFill>
                <a:latin typeface="Calibri" pitchFamily="34" charset="0"/>
                <a:ea typeface="Calibri" pitchFamily="34" charset="-122"/>
                <a:cs typeface="Calibri" pitchFamily="34" charset="-120"/>
              </a:rPr>
              <a:t>METHODOLOGY</a:t>
            </a:r>
            <a:endParaRPr lang="en-US" sz="1100" dirty="0"/>
          </a:p>
        </p:txBody>
      </p:sp>
      <p:sp>
        <p:nvSpPr>
          <p:cNvPr id="3" name="Text 1"/>
          <p:cNvSpPr/>
          <p:nvPr/>
        </p:nvSpPr>
        <p:spPr>
          <a:xfrm>
            <a:off x="548640" y="365760"/>
            <a:ext cx="11064240" cy="731520"/>
          </a:xfrm>
          <a:prstGeom prst="rect">
            <a:avLst/>
          </a:prstGeom>
          <a:noFill/>
          <a:ln/>
        </p:spPr>
        <p:txBody>
          <a:bodyPr wrap="square" lIns="0" tIns="0" rIns="0" bIns="0" rtlCol="0" anchor="ctr"/>
          <a:lstStyle/>
          <a:p>
            <a:pPr marL="0" indent="0" algn="l">
              <a:buNone/>
            </a:pPr>
            <a:r>
              <a:rPr lang="en-US" sz="2800" b="1" dirty="0">
                <a:solidFill>
                  <a:srgbClr val="1E2A44"/>
                </a:solidFill>
                <a:latin typeface="Cambria" pitchFamily="34" charset="0"/>
                <a:ea typeface="Cambria" pitchFamily="34" charset="-122"/>
                <a:cs typeface="Cambria" pitchFamily="34" charset="-120"/>
              </a:rPr>
              <a:t>Text Preprocessing Pipeline</a:t>
            </a:r>
            <a:endParaRPr lang="en-US" sz="2800" dirty="0"/>
          </a:p>
        </p:txBody>
      </p:sp>
      <p:sp>
        <p:nvSpPr>
          <p:cNvPr id="4" name="Shape 2"/>
          <p:cNvSpPr/>
          <p:nvPr/>
        </p:nvSpPr>
        <p:spPr>
          <a:xfrm>
            <a:off x="548640" y="1143000"/>
            <a:ext cx="11064240" cy="0"/>
          </a:xfrm>
          <a:prstGeom prst="line">
            <a:avLst/>
          </a:prstGeom>
          <a:noFill/>
          <a:ln w="12700">
            <a:solidFill>
              <a:srgbClr val="CCCCCC"/>
            </a:solidFill>
            <a:prstDash val="solid"/>
          </a:ln>
        </p:spPr>
      </p:sp>
      <p:pic>
        <p:nvPicPr>
          <p:cNvPr id="5" name="Image 0" descr="/home/claude/ppt/images/preprocessing_diagram.png"/>
          <p:cNvPicPr>
            <a:picLocks noChangeAspect="1"/>
          </p:cNvPicPr>
          <p:nvPr/>
        </p:nvPicPr>
        <p:blipFill>
          <a:blip r:embed="rId3"/>
          <a:stretch>
            <a:fillRect/>
          </a:stretch>
        </p:blipFill>
        <p:spPr>
          <a:xfrm>
            <a:off x="548640" y="2103120"/>
            <a:ext cx="11064240" cy="2697480"/>
          </a:xfrm>
          <a:prstGeom prst="rect">
            <a:avLst/>
          </a:prstGeom>
        </p:spPr>
      </p:pic>
      <p:sp>
        <p:nvSpPr>
          <p:cNvPr id="6" name="Text 3"/>
          <p:cNvSpPr/>
          <p:nvPr/>
        </p:nvSpPr>
        <p:spPr>
          <a:xfrm>
            <a:off x="548640" y="4983480"/>
            <a:ext cx="11064240" cy="411480"/>
          </a:xfrm>
          <a:prstGeom prst="rect">
            <a:avLst/>
          </a:prstGeom>
          <a:noFill/>
          <a:ln/>
        </p:spPr>
        <p:txBody>
          <a:bodyPr wrap="square" lIns="0" tIns="0" rIns="0" bIns="0" rtlCol="0" anchor="ctr"/>
          <a:lstStyle/>
          <a:p>
            <a:pPr marL="0" indent="0" algn="ctr">
              <a:buNone/>
            </a:pPr>
            <a:r>
              <a:rPr lang="en-US" sz="1600" dirty="0">
                <a:solidFill>
                  <a:srgbClr val="1A1A1A"/>
                </a:solidFill>
                <a:latin typeface="Calibri" pitchFamily="34" charset="0"/>
                <a:ea typeface="Calibri" pitchFamily="34" charset="-122"/>
                <a:cs typeface="Calibri" pitchFamily="34" charset="-120"/>
              </a:rPr>
              <a:t>Each stage runs as its own separate step, not one combined cleaning function, so its effect on the data can be checked before moving on.</a:t>
            </a:r>
            <a:endParaRPr lang="en-US" sz="1600" dirty="0"/>
          </a:p>
        </p:txBody>
      </p:sp>
      <p:sp>
        <p:nvSpPr>
          <p:cNvPr id="8" name="Text 5"/>
          <p:cNvSpPr/>
          <p:nvPr/>
        </p:nvSpPr>
        <p:spPr>
          <a:xfrm>
            <a:off x="11521440" y="6446520"/>
            <a:ext cx="457200" cy="274320"/>
          </a:xfrm>
          <a:prstGeom prst="rect">
            <a:avLst/>
          </a:prstGeom>
          <a:noFill/>
          <a:ln/>
        </p:spPr>
        <p:txBody>
          <a:bodyPr wrap="square" lIns="0" tIns="0" rIns="0" bIns="0" rtlCol="0" anchor="ctr"/>
          <a:lstStyle/>
          <a:p>
            <a:pPr marL="0" indent="0" algn="r">
              <a:buNone/>
            </a:pPr>
            <a:r>
              <a:rPr lang="en-US" sz="1000" dirty="0">
                <a:solidFill>
                  <a:srgbClr val="666666"/>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137160"/>
            <a:ext cx="11064240" cy="274320"/>
          </a:xfrm>
          <a:prstGeom prst="rect">
            <a:avLst/>
          </a:prstGeom>
          <a:noFill/>
          <a:ln/>
        </p:spPr>
        <p:txBody>
          <a:bodyPr wrap="square" lIns="0" tIns="0" rIns="0" bIns="0" rtlCol="0" anchor="ctr"/>
          <a:lstStyle/>
          <a:p>
            <a:pPr marL="0" indent="0" algn="l">
              <a:buNone/>
            </a:pPr>
            <a:r>
              <a:rPr lang="en-US" sz="1100" b="1" kern="0" spc="100" dirty="0">
                <a:solidFill>
                  <a:srgbClr val="666666"/>
                </a:solidFill>
                <a:latin typeface="Calibri" pitchFamily="34" charset="0"/>
                <a:ea typeface="Calibri" pitchFamily="34" charset="-122"/>
                <a:cs typeface="Calibri" pitchFamily="34" charset="-120"/>
              </a:rPr>
              <a:t>METHODOLOGY</a:t>
            </a:r>
            <a:endParaRPr lang="en-US" sz="1100" dirty="0"/>
          </a:p>
        </p:txBody>
      </p:sp>
      <p:sp>
        <p:nvSpPr>
          <p:cNvPr id="3" name="Text 1"/>
          <p:cNvSpPr/>
          <p:nvPr/>
        </p:nvSpPr>
        <p:spPr>
          <a:xfrm>
            <a:off x="548640" y="365760"/>
            <a:ext cx="11064240" cy="731520"/>
          </a:xfrm>
          <a:prstGeom prst="rect">
            <a:avLst/>
          </a:prstGeom>
          <a:noFill/>
          <a:ln/>
        </p:spPr>
        <p:txBody>
          <a:bodyPr wrap="square" lIns="0" tIns="0" rIns="0" bIns="0" rtlCol="0" anchor="ctr"/>
          <a:lstStyle/>
          <a:p>
            <a:pPr marL="0" indent="0" algn="l">
              <a:buNone/>
            </a:pPr>
            <a:r>
              <a:rPr lang="en-US" sz="2800" b="1" dirty="0">
                <a:solidFill>
                  <a:srgbClr val="1E2A44"/>
                </a:solidFill>
                <a:latin typeface="Cambria" pitchFamily="34" charset="0"/>
                <a:ea typeface="Cambria" pitchFamily="34" charset="-122"/>
                <a:cs typeface="Cambria" pitchFamily="34" charset="-120"/>
              </a:rPr>
              <a:t>Handcrafted Behavioral Features</a:t>
            </a:r>
            <a:endParaRPr lang="en-US" sz="2800" dirty="0"/>
          </a:p>
        </p:txBody>
      </p:sp>
      <p:sp>
        <p:nvSpPr>
          <p:cNvPr id="4" name="Shape 2"/>
          <p:cNvSpPr/>
          <p:nvPr/>
        </p:nvSpPr>
        <p:spPr>
          <a:xfrm>
            <a:off x="548640" y="1143000"/>
            <a:ext cx="11064240" cy="0"/>
          </a:xfrm>
          <a:prstGeom prst="line">
            <a:avLst/>
          </a:prstGeom>
          <a:noFill/>
          <a:ln w="12700">
            <a:solidFill>
              <a:srgbClr val="CCCCCC"/>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2011680"/>
        </p:xfrm>
        <a:graphic>
          <a:graphicData uri="http://schemas.openxmlformats.org/drawingml/2006/table">
            <a:tbl>
              <a:tblPr/>
              <a:tblGrid>
                <a:gridCol w="310896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2194560">
                  <a:extLst>
                    <a:ext uri="{9D8B030D-6E8A-4147-A177-3AD203B41FA5}">
                      <a16:colId xmlns:a16="http://schemas.microsoft.com/office/drawing/2014/main" val="20004"/>
                    </a:ext>
                  </a:extLst>
                </a:gridCol>
              </a:tblGrid>
              <a:tr h="502920">
                <a:tc>
                  <a:txBody>
                    <a:bodyPr/>
                    <a:lstStyle/>
                    <a:p>
                      <a:pPr marL="0" indent="0" algn="ctr">
                        <a:buNone/>
                      </a:pPr>
                      <a:r>
                        <a:rPr lang="en-US" sz="1300" b="1" dirty="0">
                          <a:solidFill>
                            <a:srgbClr val="1A1A1A"/>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300" b="1" dirty="0">
                          <a:solidFill>
                            <a:srgbClr val="1A1A1A"/>
                          </a:solidFill>
                          <a:latin typeface="Calibri" pitchFamily="34" charset="0"/>
                          <a:ea typeface="Calibri" pitchFamily="34" charset="-122"/>
                          <a:cs typeface="Calibri" pitchFamily="34" charset="-120"/>
                        </a:rPr>
                        <a:t>Fake (mean)</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300" b="1" dirty="0">
                          <a:solidFill>
                            <a:srgbClr val="1A1A1A"/>
                          </a:solidFill>
                          <a:latin typeface="Calibri" pitchFamily="34" charset="0"/>
                          <a:ea typeface="Calibri" pitchFamily="34" charset="-122"/>
                          <a:cs typeface="Calibri" pitchFamily="34" charset="-120"/>
                        </a:rPr>
                        <a:t>True (mean)</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300" b="1" dirty="0">
                          <a:solidFill>
                            <a:srgbClr val="1A1A1A"/>
                          </a:solidFill>
                          <a:latin typeface="Calibri" pitchFamily="34" charset="0"/>
                          <a:ea typeface="Calibri" pitchFamily="34" charset="-122"/>
                          <a:cs typeface="Calibri" pitchFamily="34" charset="-120"/>
                        </a:rPr>
                        <a:t>Gap</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300" b="1" dirty="0">
                          <a:solidFill>
                            <a:srgbClr val="1A1A1A"/>
                          </a:solidFill>
                          <a:latin typeface="Calibri" pitchFamily="34" charset="0"/>
                          <a:ea typeface="Calibri" pitchFamily="34" charset="-122"/>
                          <a:cs typeface="Calibri" pitchFamily="34" charset="-120"/>
                        </a:rPr>
                        <a:t>Used in enhanced model?</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extLst>
                  <a:ext uri="{0D108BD9-81ED-4DB2-BD59-A6C34878D82A}">
                    <a16:rowId xmlns:a16="http://schemas.microsoft.com/office/drawing/2014/main" val="10000"/>
                  </a:ext>
                </a:extLst>
              </a:tr>
              <a:tr h="502920">
                <a:tc>
                  <a:txBody>
                    <a:bodyPr/>
                    <a:lstStyle/>
                    <a:p>
                      <a:pPr marL="0" indent="0" algn="l">
                        <a:buNone/>
                      </a:pPr>
                      <a:r>
                        <a:rPr lang="en-US" sz="1300" dirty="0">
                          <a:solidFill>
                            <a:srgbClr val="1A1A1A"/>
                          </a:solidFill>
                          <a:latin typeface="Calibri" pitchFamily="34" charset="0"/>
                          <a:ea typeface="Calibri" pitchFamily="34" charset="-122"/>
                          <a:cs typeface="Calibri" pitchFamily="34" charset="-120"/>
                        </a:rPr>
                        <a:t>exclamation_count</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0.85</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0.06</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~13x</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1E7A34"/>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300" dirty="0">
                          <a:solidFill>
                            <a:srgbClr val="1A1A1A"/>
                          </a:solidFill>
                          <a:latin typeface="Calibri" pitchFamily="34" charset="0"/>
                          <a:ea typeface="Calibri" pitchFamily="34" charset="-122"/>
                          <a:cs typeface="Calibri" pitchFamily="34" charset="-120"/>
                        </a:rPr>
                        <a:t>has_url</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14.3%</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0.2%</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~72x</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AA3626"/>
                          </a:solidFill>
                          <a:latin typeface="Calibri" pitchFamily="34" charset="0"/>
                          <a:ea typeface="Calibri" pitchFamily="34" charset="-122"/>
                          <a:cs typeface="Calibri" pitchFamily="34" charset="-120"/>
                        </a:rPr>
                        <a:t>No (measured only)</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lgn="l">
                        <a:buNone/>
                      </a:pPr>
                      <a:r>
                        <a:rPr lang="en-US" sz="1300" dirty="0">
                          <a:solidFill>
                            <a:srgbClr val="1A1A1A"/>
                          </a:solidFill>
                          <a:latin typeface="Calibri" pitchFamily="34" charset="0"/>
                          <a:ea typeface="Calibri" pitchFamily="34" charset="-122"/>
                          <a:cs typeface="Calibri" pitchFamily="34" charset="-120"/>
                        </a:rPr>
                        <a:t>text_length (chars)</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2,579</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2,444</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~1.05x</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1E7A34"/>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Text 3"/>
          <p:cNvSpPr/>
          <p:nvPr/>
        </p:nvSpPr>
        <p:spPr>
          <a:xfrm>
            <a:off x="548640" y="3931920"/>
            <a:ext cx="11064240" cy="201168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00B050"/>
                </a:solidFill>
                <a:latin typeface="Calibri" pitchFamily="34" charset="0"/>
                <a:ea typeface="Calibri" pitchFamily="34" charset="-122"/>
                <a:cs typeface="Calibri" pitchFamily="34" charset="-120"/>
              </a:rPr>
              <a:t>Exclamation marks show the clearest gap between classes, worth carrying forward as its own feature.</a:t>
            </a:r>
            <a:endParaRPr lang="en-US" sz="1600" dirty="0">
              <a:solidFill>
                <a:srgbClr val="00B050"/>
              </a:solidFill>
            </a:endParaRPr>
          </a:p>
          <a:p>
            <a:pPr marL="228600" indent="-228600">
              <a:spcAft>
                <a:spcPts val="1000"/>
              </a:spcAft>
              <a:buSzPct val="100000"/>
              <a:buChar char="•"/>
            </a:pPr>
            <a:r>
              <a:rPr lang="en-US" sz="1600" dirty="0">
                <a:solidFill>
                  <a:srgbClr val="FF0000"/>
                </a:solidFill>
                <a:latin typeface="Calibri" pitchFamily="34" charset="0"/>
                <a:ea typeface="Calibri" pitchFamily="34" charset="-122"/>
                <a:cs typeface="Calibri" pitchFamily="34" charset="-120"/>
              </a:rPr>
              <a:t>URL presence has the largest relative gap of all three, but it was not carried into the enhanced feature set used for modeling , it was flagged as future work.</a:t>
            </a:r>
            <a:endParaRPr lang="en-US" sz="1600" dirty="0">
              <a:solidFill>
                <a:srgbClr val="FF0000"/>
              </a:solidFill>
            </a:endParaRPr>
          </a:p>
          <a:p>
            <a:pPr marL="228600" indent="-228600">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Article length barely separates the two classes; kept anyway, but expectations stayed modest.</a:t>
            </a:r>
            <a:endParaRPr lang="en-US" sz="1600" dirty="0"/>
          </a:p>
        </p:txBody>
      </p:sp>
      <p:sp>
        <p:nvSpPr>
          <p:cNvPr id="5" name="Text 4"/>
          <p:cNvSpPr/>
          <p:nvPr/>
        </p:nvSpPr>
        <p:spPr>
          <a:xfrm>
            <a:off x="11521440" y="6446520"/>
            <a:ext cx="457200" cy="274320"/>
          </a:xfrm>
          <a:prstGeom prst="rect">
            <a:avLst/>
          </a:prstGeom>
          <a:noFill/>
          <a:ln/>
        </p:spPr>
        <p:txBody>
          <a:bodyPr wrap="square" lIns="0" tIns="0" rIns="0" bIns="0" rtlCol="0" anchor="ctr"/>
          <a:lstStyle/>
          <a:p>
            <a:pPr marL="0" indent="0" algn="r">
              <a:buNone/>
            </a:pPr>
            <a:r>
              <a:rPr lang="en-US" sz="1000" dirty="0">
                <a:solidFill>
                  <a:srgbClr val="666666"/>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137160"/>
            <a:ext cx="11064240" cy="274320"/>
          </a:xfrm>
          <a:prstGeom prst="rect">
            <a:avLst/>
          </a:prstGeom>
          <a:noFill/>
          <a:ln/>
        </p:spPr>
        <p:txBody>
          <a:bodyPr wrap="square" lIns="0" tIns="0" rIns="0" bIns="0" rtlCol="0" anchor="ctr"/>
          <a:lstStyle/>
          <a:p>
            <a:pPr marL="0" indent="0" algn="l">
              <a:buNone/>
            </a:pPr>
            <a:r>
              <a:rPr lang="en-US" sz="1100" b="1" kern="0" spc="100" dirty="0">
                <a:solidFill>
                  <a:srgbClr val="666666"/>
                </a:solidFill>
                <a:latin typeface="Calibri" pitchFamily="34" charset="0"/>
                <a:ea typeface="Calibri" pitchFamily="34" charset="-122"/>
                <a:cs typeface="Calibri" pitchFamily="34" charset="-120"/>
              </a:rPr>
              <a:t>METHODOLOGY</a:t>
            </a:r>
            <a:endParaRPr lang="en-US" sz="1100" dirty="0"/>
          </a:p>
        </p:txBody>
      </p:sp>
      <p:sp>
        <p:nvSpPr>
          <p:cNvPr id="3" name="Text 1"/>
          <p:cNvSpPr/>
          <p:nvPr/>
        </p:nvSpPr>
        <p:spPr>
          <a:xfrm>
            <a:off x="548640" y="365760"/>
            <a:ext cx="11064240" cy="731520"/>
          </a:xfrm>
          <a:prstGeom prst="rect">
            <a:avLst/>
          </a:prstGeom>
          <a:noFill/>
          <a:ln/>
        </p:spPr>
        <p:txBody>
          <a:bodyPr wrap="square" lIns="0" tIns="0" rIns="0" bIns="0" rtlCol="0" anchor="ctr"/>
          <a:lstStyle/>
          <a:p>
            <a:pPr marL="0" indent="0" algn="l">
              <a:buNone/>
            </a:pPr>
            <a:r>
              <a:rPr lang="en-US" sz="2800" b="1" dirty="0">
                <a:solidFill>
                  <a:srgbClr val="1E2A44"/>
                </a:solidFill>
                <a:latin typeface="Cambria" pitchFamily="34" charset="0"/>
                <a:ea typeface="Cambria" pitchFamily="34" charset="-122"/>
                <a:cs typeface="Cambria" pitchFamily="34" charset="-120"/>
              </a:rPr>
              <a:t>Three Text Representations Compared</a:t>
            </a:r>
            <a:endParaRPr lang="en-US" sz="2800" dirty="0"/>
          </a:p>
        </p:txBody>
      </p:sp>
      <p:sp>
        <p:nvSpPr>
          <p:cNvPr id="4" name="Shape 2"/>
          <p:cNvSpPr/>
          <p:nvPr/>
        </p:nvSpPr>
        <p:spPr>
          <a:xfrm>
            <a:off x="548640" y="1143000"/>
            <a:ext cx="11064240" cy="0"/>
          </a:xfrm>
          <a:prstGeom prst="line">
            <a:avLst/>
          </a:prstGeom>
          <a:noFill/>
          <a:ln w="12700">
            <a:solidFill>
              <a:srgbClr val="CCCCCC"/>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2560320"/>
        </p:xfrm>
        <a:graphic>
          <a:graphicData uri="http://schemas.openxmlformats.org/drawingml/2006/table">
            <a:tbl>
              <a:tblPr/>
              <a:tblGrid>
                <a:gridCol w="27432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5943600">
                  <a:extLst>
                    <a:ext uri="{9D8B030D-6E8A-4147-A177-3AD203B41FA5}">
                      <a16:colId xmlns:a16="http://schemas.microsoft.com/office/drawing/2014/main" val="20002"/>
                    </a:ext>
                  </a:extLst>
                </a:gridCol>
              </a:tblGrid>
              <a:tr h="640080">
                <a:tc>
                  <a:txBody>
                    <a:bodyPr/>
                    <a:lstStyle/>
                    <a:p>
                      <a:pPr marL="0" indent="0" algn="ctr">
                        <a:buNone/>
                      </a:pPr>
                      <a:r>
                        <a:rPr lang="en-US" sz="1400" b="1" dirty="0">
                          <a:solidFill>
                            <a:srgbClr val="1A1A1A"/>
                          </a:solidFill>
                          <a:latin typeface="Calibri" pitchFamily="34" charset="0"/>
                          <a:ea typeface="Calibri" pitchFamily="34" charset="-122"/>
                          <a:cs typeface="Calibri" pitchFamily="34" charset="-120"/>
                        </a:rPr>
                        <a:t>Representation</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400" b="1" dirty="0">
                          <a:solidFill>
                            <a:srgbClr val="1A1A1A"/>
                          </a:solidFill>
                          <a:latin typeface="Calibri" pitchFamily="34" charset="0"/>
                          <a:ea typeface="Calibri" pitchFamily="34" charset="-122"/>
                          <a:cs typeface="Calibri" pitchFamily="34" charset="-120"/>
                        </a:rPr>
                        <a:t>Dimensionality</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400" b="1" dirty="0">
                          <a:solidFill>
                            <a:srgbClr val="1A1A1A"/>
                          </a:solidFill>
                          <a:latin typeface="Calibri" pitchFamily="34" charset="0"/>
                          <a:ea typeface="Calibri" pitchFamily="34" charset="-122"/>
                          <a:cs typeface="Calibri" pitchFamily="34" charset="-120"/>
                        </a:rPr>
                        <a:t>What It Captures</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extLst>
                  <a:ext uri="{0D108BD9-81ED-4DB2-BD59-A6C34878D82A}">
                    <a16:rowId xmlns:a16="http://schemas.microsoft.com/office/drawing/2014/main" val="10000"/>
                  </a:ext>
                </a:extLst>
              </a:tr>
              <a:tr h="640080">
                <a:tc>
                  <a:txBody>
                    <a:bodyPr/>
                    <a:lstStyle/>
                    <a:p>
                      <a:pPr marL="0" indent="0" algn="l">
                        <a:buNone/>
                      </a:pPr>
                      <a:r>
                        <a:rPr lang="en-US" sz="1400" dirty="0">
                          <a:solidFill>
                            <a:srgbClr val="1A1A1A"/>
                          </a:solidFill>
                          <a:latin typeface="Calibri" pitchFamily="34" charset="0"/>
                          <a:ea typeface="Calibri" pitchFamily="34" charset="-122"/>
                          <a:cs typeface="Calibri" pitchFamily="34" charset="-120"/>
                        </a:rPr>
                        <a:t>Bag-of-Words</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A1A1A"/>
                          </a:solidFill>
                          <a:latin typeface="Calibri" pitchFamily="34" charset="0"/>
                          <a:ea typeface="Calibri" pitchFamily="34" charset="-122"/>
                          <a:cs typeface="Calibri" pitchFamily="34" charset="-120"/>
                        </a:rPr>
                        <a:t>10,000 (sparse)</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A1A1A"/>
                          </a:solidFill>
                          <a:latin typeface="Calibri" pitchFamily="34" charset="0"/>
                          <a:ea typeface="Calibri" pitchFamily="34" charset="-122"/>
                          <a:cs typeface="Calibri" pitchFamily="34" charset="-120"/>
                        </a:rPr>
                        <a:t>Raw word counts, no weighting for informativeness</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lgn="l">
                        <a:buNone/>
                      </a:pPr>
                      <a:r>
                        <a:rPr lang="en-US" sz="1400" dirty="0">
                          <a:solidFill>
                            <a:srgbClr val="1A1A1A"/>
                          </a:solidFill>
                          <a:latin typeface="Calibri" pitchFamily="34" charset="0"/>
                          <a:ea typeface="Calibri" pitchFamily="34" charset="-122"/>
                          <a:cs typeface="Calibri" pitchFamily="34" charset="-120"/>
                        </a:rPr>
                        <a:t>TF-IDF</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A1A1A"/>
                          </a:solidFill>
                          <a:latin typeface="Calibri" pitchFamily="34" charset="0"/>
                          <a:ea typeface="Calibri" pitchFamily="34" charset="-122"/>
                          <a:cs typeface="Calibri" pitchFamily="34" charset="-120"/>
                        </a:rPr>
                        <a:t>10,000 (sparse)</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A1A1A"/>
                          </a:solidFill>
                          <a:latin typeface="Calibri" pitchFamily="34" charset="0"/>
                          <a:ea typeface="Calibri" pitchFamily="34" charset="-122"/>
                          <a:cs typeface="Calibri" pitchFamily="34" charset="-120"/>
                        </a:rPr>
                        <a:t>Word counts, down-weighted by how common a word is across articles</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algn="l">
                        <a:buNone/>
                      </a:pPr>
                      <a:r>
                        <a:rPr lang="en-US" sz="1400" dirty="0">
                          <a:solidFill>
                            <a:srgbClr val="1A1A1A"/>
                          </a:solidFill>
                          <a:latin typeface="Calibri" pitchFamily="34" charset="0"/>
                          <a:ea typeface="Calibri" pitchFamily="34" charset="-122"/>
                          <a:cs typeface="Calibri" pitchFamily="34" charset="-120"/>
                        </a:rPr>
                        <a:t>Word2Vec (averaged)</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A1A1A"/>
                          </a:solidFill>
                          <a:latin typeface="Calibri" pitchFamily="34" charset="0"/>
                          <a:ea typeface="Calibri" pitchFamily="34" charset="-122"/>
                          <a:cs typeface="Calibri" pitchFamily="34" charset="-120"/>
                        </a:rPr>
                        <a:t>100 (dense)</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A1A1A"/>
                          </a:solidFill>
                          <a:latin typeface="Calibri" pitchFamily="34" charset="0"/>
                          <a:ea typeface="Calibri" pitchFamily="34" charset="-122"/>
                          <a:cs typeface="Calibri" pitchFamily="34" charset="-120"/>
                        </a:rPr>
                        <a:t>Semantic similarity between words, learned from this corpus directly</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Text 3"/>
          <p:cNvSpPr/>
          <p:nvPr/>
        </p:nvSpPr>
        <p:spPr>
          <a:xfrm>
            <a:off x="548640" y="4389120"/>
            <a:ext cx="11064240" cy="457200"/>
          </a:xfrm>
          <a:prstGeom prst="rect">
            <a:avLst/>
          </a:prstGeom>
          <a:noFill/>
          <a:ln/>
        </p:spPr>
        <p:txBody>
          <a:bodyPr wrap="square" lIns="0" tIns="0" rIns="0" bIns="0" rtlCol="0" anchor="ctr"/>
          <a:lstStyle/>
          <a:p>
            <a:pPr marL="0" indent="0">
              <a:buNone/>
            </a:pPr>
            <a:r>
              <a:rPr lang="en-US" sz="1600" i="1" dirty="0">
                <a:latin typeface="Calibri" pitchFamily="34" charset="0"/>
                <a:ea typeface="Calibri" pitchFamily="34" charset="-122"/>
                <a:cs typeface="Calibri" pitchFamily="34" charset="-120"/>
              </a:rPr>
              <a:t>Word2Vec is trained from scratch on this dataset's own cleaned articles, not loaded from an external pretrained source.</a:t>
            </a:r>
            <a:endParaRPr lang="en-US" sz="1600" dirty="0"/>
          </a:p>
        </p:txBody>
      </p:sp>
      <p:sp>
        <p:nvSpPr>
          <p:cNvPr id="7" name="Text 4"/>
          <p:cNvSpPr/>
          <p:nvPr/>
        </p:nvSpPr>
        <p:spPr>
          <a:xfrm>
            <a:off x="548640" y="4937760"/>
            <a:ext cx="11064240" cy="457200"/>
          </a:xfrm>
          <a:prstGeom prst="rect">
            <a:avLst/>
          </a:prstGeom>
          <a:noFill/>
          <a:ln/>
        </p:spPr>
        <p:txBody>
          <a:bodyPr wrap="square" lIns="0" tIns="0" rIns="0" bIns="0" rtlCol="0" anchor="ctr"/>
          <a:lstStyle/>
          <a:p>
            <a:pPr marL="0" indent="0">
              <a:buNone/>
            </a:pPr>
            <a:r>
              <a:rPr lang="en-US" sz="1600" dirty="0">
                <a:solidFill>
                  <a:srgbClr val="1A1A1A"/>
                </a:solidFill>
                <a:latin typeface="Calibri" pitchFamily="34" charset="0"/>
                <a:ea typeface="Calibri" pitchFamily="34" charset="-122"/>
                <a:cs typeface="Calibri" pitchFamily="34" charset="-120"/>
              </a:rPr>
              <a:t>All three are built on the same 39,105-article corpus, so any accuracy difference between them comes from the representation itself.</a:t>
            </a:r>
            <a:endParaRPr lang="en-US" sz="1600" dirty="0"/>
          </a:p>
        </p:txBody>
      </p:sp>
      <p:sp>
        <p:nvSpPr>
          <p:cNvPr id="5" name="Text 5"/>
          <p:cNvSpPr/>
          <p:nvPr/>
        </p:nvSpPr>
        <p:spPr>
          <a:xfrm>
            <a:off x="11521440" y="6446520"/>
            <a:ext cx="457200" cy="274320"/>
          </a:xfrm>
          <a:prstGeom prst="rect">
            <a:avLst/>
          </a:prstGeom>
          <a:noFill/>
          <a:ln/>
        </p:spPr>
        <p:txBody>
          <a:bodyPr wrap="square" lIns="0" tIns="0" rIns="0" bIns="0" rtlCol="0" anchor="ctr"/>
          <a:lstStyle/>
          <a:p>
            <a:pPr marL="0" indent="0" algn="r">
              <a:buNone/>
            </a:pPr>
            <a:r>
              <a:rPr lang="en-US" sz="1000" dirty="0">
                <a:solidFill>
                  <a:srgbClr val="666666"/>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137160"/>
            <a:ext cx="11064240" cy="274320"/>
          </a:xfrm>
          <a:prstGeom prst="rect">
            <a:avLst/>
          </a:prstGeom>
          <a:noFill/>
          <a:ln/>
        </p:spPr>
        <p:txBody>
          <a:bodyPr wrap="square" lIns="0" tIns="0" rIns="0" bIns="0" rtlCol="0" anchor="ctr"/>
          <a:lstStyle/>
          <a:p>
            <a:pPr marL="0" indent="0" algn="l">
              <a:buNone/>
            </a:pPr>
            <a:r>
              <a:rPr lang="en-US" sz="1100" b="1" kern="0" spc="100" dirty="0">
                <a:solidFill>
                  <a:srgbClr val="666666"/>
                </a:solidFill>
                <a:latin typeface="Calibri" pitchFamily="34" charset="0"/>
                <a:ea typeface="Calibri" pitchFamily="34" charset="-122"/>
                <a:cs typeface="Calibri" pitchFamily="34" charset="-120"/>
              </a:rPr>
              <a:t>METHODOLOGY</a:t>
            </a:r>
            <a:endParaRPr lang="en-US" sz="1100" dirty="0"/>
          </a:p>
        </p:txBody>
      </p:sp>
      <p:sp>
        <p:nvSpPr>
          <p:cNvPr id="3" name="Text 1"/>
          <p:cNvSpPr/>
          <p:nvPr/>
        </p:nvSpPr>
        <p:spPr>
          <a:xfrm>
            <a:off x="548640" y="365760"/>
            <a:ext cx="11064240" cy="731520"/>
          </a:xfrm>
          <a:prstGeom prst="rect">
            <a:avLst/>
          </a:prstGeom>
          <a:noFill/>
          <a:ln/>
        </p:spPr>
        <p:txBody>
          <a:bodyPr wrap="square" lIns="0" tIns="0" rIns="0" bIns="0" rtlCol="0" anchor="ctr"/>
          <a:lstStyle/>
          <a:p>
            <a:pPr marL="0" indent="0" algn="l">
              <a:buNone/>
            </a:pPr>
            <a:r>
              <a:rPr lang="en-US" sz="2800" b="1" dirty="0">
                <a:solidFill>
                  <a:srgbClr val="1E2A44"/>
                </a:solidFill>
                <a:latin typeface="Cambria" pitchFamily="34" charset="0"/>
                <a:ea typeface="Cambria" pitchFamily="34" charset="-122"/>
                <a:cs typeface="Cambria" pitchFamily="34" charset="-120"/>
              </a:rPr>
              <a:t>Models Used</a:t>
            </a:r>
            <a:endParaRPr lang="en-US" sz="2800" dirty="0"/>
          </a:p>
        </p:txBody>
      </p:sp>
      <p:sp>
        <p:nvSpPr>
          <p:cNvPr id="4" name="Shape 2"/>
          <p:cNvSpPr/>
          <p:nvPr/>
        </p:nvSpPr>
        <p:spPr>
          <a:xfrm>
            <a:off x="548640" y="1143000"/>
            <a:ext cx="11064240" cy="0"/>
          </a:xfrm>
          <a:prstGeom prst="line">
            <a:avLst/>
          </a:prstGeom>
          <a:noFill/>
          <a:ln w="12700">
            <a:solidFill>
              <a:srgbClr val="CCCCCC"/>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3429000"/>
        </p:xfrm>
        <a:graphic>
          <a:graphicData uri="http://schemas.openxmlformats.org/drawingml/2006/table">
            <a:tbl>
              <a:tblPr/>
              <a:tblGrid>
                <a:gridCol w="292608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tblGrid>
              <a:tr h="685800">
                <a:tc>
                  <a:txBody>
                    <a:bodyPr/>
                    <a:lstStyle/>
                    <a:p>
                      <a:pPr marL="0" indent="0" algn="ctr">
                        <a:buNone/>
                      </a:pPr>
                      <a:r>
                        <a:rPr lang="en-US" sz="1400" b="1" dirty="0">
                          <a:solidFill>
                            <a:srgbClr val="1A1A1A"/>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400" b="1" dirty="0">
                          <a:solidFill>
                            <a:srgbClr val="1A1A1A"/>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400" b="1" dirty="0">
                          <a:solidFill>
                            <a:srgbClr val="1A1A1A"/>
                          </a:solidFill>
                          <a:latin typeface="Calibri" pitchFamily="34" charset="0"/>
                          <a:ea typeface="Calibri" pitchFamily="34" charset="-122"/>
                          <a:cs typeface="Calibri" pitchFamily="34" charset="-120"/>
                        </a:rPr>
                        <a:t>Why It Was Included</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extLst>
                  <a:ext uri="{0D108BD9-81ED-4DB2-BD59-A6C34878D82A}">
                    <a16:rowId xmlns:a16="http://schemas.microsoft.com/office/drawing/2014/main" val="10000"/>
                  </a:ext>
                </a:extLst>
              </a:tr>
              <a:tr h="685800">
                <a:tc>
                  <a:txBody>
                    <a:bodyPr/>
                    <a:lstStyle/>
                    <a:p>
                      <a:pPr marL="0" indent="0" algn="l">
                        <a:buNone/>
                      </a:pPr>
                      <a:r>
                        <a:rPr lang="en-US" sz="1400" dirty="0">
                          <a:solidFill>
                            <a:srgbClr val="1A1A1A"/>
                          </a:solidFill>
                          <a:latin typeface="Calibri" pitchFamily="34" charset="0"/>
                          <a:ea typeface="Calibri" pitchFamily="34" charset="-122"/>
                          <a:cs typeface="Calibri" pitchFamily="34" charset="-120"/>
                        </a:rPr>
                        <a:t>K-Nearest Neighbors</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A1A1A"/>
                          </a:solidFill>
                          <a:latin typeface="Calibri" pitchFamily="34" charset="0"/>
                          <a:ea typeface="Calibri" pitchFamily="34" charset="-122"/>
                          <a:cs typeface="Calibri" pitchFamily="34" charset="-120"/>
                        </a:rPr>
                        <a:t>Non-parametric</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A1A1A"/>
                          </a:solidFill>
                          <a:latin typeface="Calibri" pitchFamily="34" charset="0"/>
                          <a:ea typeface="Calibri" pitchFamily="34" charset="-122"/>
                          <a:cs typeface="Calibri" pitchFamily="34" charset="-120"/>
                        </a:rPr>
                        <a:t>Simple distance-based baseline, no training phase</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lgn="l">
                        <a:buNone/>
                      </a:pPr>
                      <a:r>
                        <a:rPr lang="en-US" sz="1400" dirty="0">
                          <a:solidFill>
                            <a:srgbClr val="1A1A1A"/>
                          </a:solidFill>
                          <a:latin typeface="Calibri" pitchFamily="34" charset="0"/>
                          <a:ea typeface="Calibri" pitchFamily="34" charset="-122"/>
                          <a:cs typeface="Calibri" pitchFamily="34" charset="-120"/>
                        </a:rPr>
                        <a:t>Logistic Regression</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A1A1A"/>
                          </a:solidFill>
                          <a:latin typeface="Calibri" pitchFamily="34" charset="0"/>
                          <a:ea typeface="Calibri" pitchFamily="34" charset="-122"/>
                          <a:cs typeface="Calibri" pitchFamily="34" charset="-120"/>
                        </a:rPr>
                        <a:t>Parametric, linear</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A1A1A"/>
                          </a:solidFill>
                          <a:latin typeface="Calibri" pitchFamily="34" charset="0"/>
                          <a:ea typeface="Calibri" pitchFamily="34" charset="-122"/>
                          <a:cs typeface="Calibri" pitchFamily="34" charset="-120"/>
                        </a:rPr>
                        <a:t>Strong TF-IDF baseline, coefficients are directly interpretable</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marL="0" indent="0" algn="l">
                        <a:buNone/>
                      </a:pPr>
                      <a:r>
                        <a:rPr lang="en-US" sz="1400" dirty="0">
                          <a:solidFill>
                            <a:srgbClr val="1A1A1A"/>
                          </a:solidFill>
                          <a:latin typeface="Calibri" pitchFamily="34" charset="0"/>
                          <a:ea typeface="Calibri" pitchFamily="34" charset="-122"/>
                          <a:cs typeface="Calibri" pitchFamily="34" charset="-120"/>
                        </a:rPr>
                        <a:t>Random Forest</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A1A1A"/>
                          </a:solidFill>
                          <a:latin typeface="Calibri" pitchFamily="34" charset="0"/>
                          <a:ea typeface="Calibri" pitchFamily="34" charset="-122"/>
                          <a:cs typeface="Calibri" pitchFamily="34" charset="-120"/>
                        </a:rPr>
                        <a:t>Ensemble</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A1A1A"/>
                          </a:solidFill>
                          <a:latin typeface="Calibri" pitchFamily="34" charset="0"/>
                          <a:ea typeface="Calibri" pitchFamily="34" charset="-122"/>
                          <a:cs typeface="Calibri" pitchFamily="34" charset="-120"/>
                        </a:rPr>
                        <a:t>Handles nonlinear splits, can act on handcrafted features directly</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marL="0" indent="0" algn="l">
                        <a:buNone/>
                      </a:pPr>
                      <a:r>
                        <a:rPr lang="en-US" sz="1400" dirty="0">
                          <a:solidFill>
                            <a:srgbClr val="1A1A1A"/>
                          </a:solidFill>
                          <a:latin typeface="Calibri" pitchFamily="34" charset="0"/>
                          <a:ea typeface="Calibri" pitchFamily="34" charset="-122"/>
                          <a:cs typeface="Calibri" pitchFamily="34" charset="-120"/>
                        </a:rPr>
                        <a:t>Neural Network</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A1A1A"/>
                          </a:solidFill>
                          <a:latin typeface="Calibri" pitchFamily="34" charset="0"/>
                          <a:ea typeface="Calibri" pitchFamily="34" charset="-122"/>
                          <a:cs typeface="Calibri" pitchFamily="34" charset="-120"/>
                        </a:rPr>
                        <a:t>Deep learning (shallow)</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A1A1A"/>
                          </a:solidFill>
                          <a:latin typeface="Calibri" pitchFamily="34" charset="0"/>
                          <a:ea typeface="Calibri" pitchFamily="34" charset="-122"/>
                          <a:cs typeface="Calibri" pitchFamily="34" charset="-120"/>
                        </a:rPr>
                        <a:t>Tests whether added model complexity helps on this task</a:t>
                      </a:r>
                      <a:endParaRPr lang="en-US" sz="14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ext 3"/>
          <p:cNvSpPr/>
          <p:nvPr/>
        </p:nvSpPr>
        <p:spPr>
          <a:xfrm>
            <a:off x="548640" y="5257800"/>
            <a:ext cx="11064240" cy="822960"/>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All four are trained on TF-IDF first, forming the baseline comparison in the next section. Logistic Regression is then reused across the other two experiments (representation comparison, enhanced features).</a:t>
            </a:r>
            <a:endParaRPr lang="en-US" sz="1600" dirty="0"/>
          </a:p>
        </p:txBody>
      </p:sp>
      <p:sp>
        <p:nvSpPr>
          <p:cNvPr id="7" name="Text 4"/>
          <p:cNvSpPr/>
          <p:nvPr/>
        </p:nvSpPr>
        <p:spPr>
          <a:xfrm>
            <a:off x="11521440" y="6446520"/>
            <a:ext cx="457200" cy="274320"/>
          </a:xfrm>
          <a:prstGeom prst="rect">
            <a:avLst/>
          </a:prstGeom>
          <a:noFill/>
          <a:ln/>
        </p:spPr>
        <p:txBody>
          <a:bodyPr wrap="square" lIns="0" tIns="0" rIns="0" bIns="0" rtlCol="0" anchor="ctr"/>
          <a:lstStyle/>
          <a:p>
            <a:pPr marL="0" indent="0" algn="r">
              <a:buNone/>
            </a:pPr>
            <a:r>
              <a:rPr lang="en-US" sz="1000" dirty="0">
                <a:solidFill>
                  <a:srgbClr val="666666"/>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137160"/>
            <a:ext cx="11064240" cy="274320"/>
          </a:xfrm>
          <a:prstGeom prst="rect">
            <a:avLst/>
          </a:prstGeom>
          <a:noFill/>
          <a:ln/>
        </p:spPr>
        <p:txBody>
          <a:bodyPr wrap="square" lIns="0" tIns="0" rIns="0" bIns="0" rtlCol="0" anchor="ctr"/>
          <a:lstStyle/>
          <a:p>
            <a:pPr marL="0" indent="0" algn="l">
              <a:buNone/>
            </a:pPr>
            <a:r>
              <a:rPr lang="en-US" sz="1100" b="1" kern="0" spc="100" dirty="0">
                <a:solidFill>
                  <a:srgbClr val="666666"/>
                </a:solidFill>
                <a:latin typeface="Calibri" pitchFamily="34" charset="0"/>
                <a:ea typeface="Calibri" pitchFamily="34" charset="-122"/>
                <a:cs typeface="Calibri" pitchFamily="34" charset="-120"/>
              </a:rPr>
              <a:t>METHODOLOGY</a:t>
            </a:r>
            <a:endParaRPr lang="en-US" sz="1100" dirty="0"/>
          </a:p>
        </p:txBody>
      </p:sp>
      <p:sp>
        <p:nvSpPr>
          <p:cNvPr id="3" name="Text 1"/>
          <p:cNvSpPr/>
          <p:nvPr/>
        </p:nvSpPr>
        <p:spPr>
          <a:xfrm>
            <a:off x="548640" y="365760"/>
            <a:ext cx="11064240" cy="731520"/>
          </a:xfrm>
          <a:prstGeom prst="rect">
            <a:avLst/>
          </a:prstGeom>
          <a:noFill/>
          <a:ln/>
        </p:spPr>
        <p:txBody>
          <a:bodyPr wrap="square" lIns="0" tIns="0" rIns="0" bIns="0" rtlCol="0" anchor="ctr"/>
          <a:lstStyle/>
          <a:p>
            <a:pPr marL="0" indent="0" algn="l">
              <a:buNone/>
            </a:pPr>
            <a:r>
              <a:rPr lang="en-US" sz="2800" b="1" dirty="0">
                <a:solidFill>
                  <a:srgbClr val="1E2A44"/>
                </a:solidFill>
                <a:latin typeface="Cambria" pitchFamily="34" charset="0"/>
                <a:ea typeface="Cambria" pitchFamily="34" charset="-122"/>
                <a:cs typeface="Cambria" pitchFamily="34" charset="-120"/>
              </a:rPr>
              <a:t>End-to-End Workflow</a:t>
            </a:r>
            <a:endParaRPr lang="en-US" sz="2800" dirty="0"/>
          </a:p>
        </p:txBody>
      </p:sp>
      <p:sp>
        <p:nvSpPr>
          <p:cNvPr id="4" name="Shape 2"/>
          <p:cNvSpPr/>
          <p:nvPr/>
        </p:nvSpPr>
        <p:spPr>
          <a:xfrm>
            <a:off x="548640" y="1143000"/>
            <a:ext cx="11064240" cy="0"/>
          </a:xfrm>
          <a:prstGeom prst="line">
            <a:avLst/>
          </a:prstGeom>
          <a:noFill/>
          <a:ln w="12700">
            <a:solidFill>
              <a:srgbClr val="CCCCCC"/>
            </a:solidFill>
            <a:prstDash val="solid"/>
          </a:ln>
        </p:spPr>
      </p:sp>
      <p:pic>
        <p:nvPicPr>
          <p:cNvPr id="5" name="Image 0" descr="/home/claude/ppt/images/pipeline_diagram.png"/>
          <p:cNvPicPr>
            <a:picLocks noChangeAspect="1"/>
          </p:cNvPicPr>
          <p:nvPr/>
        </p:nvPicPr>
        <p:blipFill>
          <a:blip r:embed="rId3"/>
          <a:stretch>
            <a:fillRect/>
          </a:stretch>
        </p:blipFill>
        <p:spPr>
          <a:xfrm>
            <a:off x="822960" y="2377440"/>
            <a:ext cx="10515600" cy="2825496"/>
          </a:xfrm>
          <a:prstGeom prst="rect">
            <a:avLst/>
          </a:prstGeom>
        </p:spPr>
      </p:pic>
      <p:sp>
        <p:nvSpPr>
          <p:cNvPr id="6" name="Text 3"/>
          <p:cNvSpPr/>
          <p:nvPr/>
        </p:nvSpPr>
        <p:spPr>
          <a:xfrm>
            <a:off x="548640" y="5532120"/>
            <a:ext cx="11064240" cy="457200"/>
          </a:xfrm>
          <a:prstGeom prst="rect">
            <a:avLst/>
          </a:prstGeom>
          <a:noFill/>
          <a:ln/>
        </p:spPr>
        <p:txBody>
          <a:bodyPr wrap="square" lIns="0" tIns="0" rIns="0" bIns="0" rtlCol="0" anchor="ctr"/>
          <a:lstStyle/>
          <a:p>
            <a:pPr marL="0" indent="0" algn="ctr">
              <a:buNone/>
            </a:pPr>
            <a:r>
              <a:rPr lang="en-US" sz="1600" dirty="0">
                <a:solidFill>
                  <a:srgbClr val="1A1A1A"/>
                </a:solidFill>
                <a:latin typeface="Calibri" pitchFamily="34" charset="0"/>
                <a:ea typeface="Calibri" pitchFamily="34" charset="-122"/>
                <a:cs typeface="Calibri" pitchFamily="34" charset="-120"/>
              </a:rPr>
              <a:t>Six stages, raw data to a compared set of trained models. Each is detailed in the sections just covered.</a:t>
            </a:r>
            <a:endParaRPr lang="en-US" sz="1600" dirty="0"/>
          </a:p>
        </p:txBody>
      </p:sp>
      <p:sp>
        <p:nvSpPr>
          <p:cNvPr id="7" name="Text 4"/>
          <p:cNvSpPr/>
          <p:nvPr/>
        </p:nvSpPr>
        <p:spPr>
          <a:xfrm>
            <a:off x="11521440" y="6446520"/>
            <a:ext cx="457200" cy="274320"/>
          </a:xfrm>
          <a:prstGeom prst="rect">
            <a:avLst/>
          </a:prstGeom>
          <a:noFill/>
          <a:ln/>
        </p:spPr>
        <p:txBody>
          <a:bodyPr wrap="square" lIns="0" tIns="0" rIns="0" bIns="0" rtlCol="0" anchor="ctr"/>
          <a:lstStyle/>
          <a:p>
            <a:pPr marL="0" indent="0" algn="r">
              <a:buNone/>
            </a:pPr>
            <a:r>
              <a:rPr lang="en-US" sz="1000" dirty="0">
                <a:solidFill>
                  <a:srgbClr val="666666"/>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137160"/>
            <a:ext cx="11064240" cy="274320"/>
          </a:xfrm>
          <a:prstGeom prst="rect">
            <a:avLst/>
          </a:prstGeom>
          <a:noFill/>
          <a:ln/>
        </p:spPr>
        <p:txBody>
          <a:bodyPr wrap="square" lIns="0" tIns="0" rIns="0" bIns="0" rtlCol="0" anchor="ctr"/>
          <a:lstStyle/>
          <a:p>
            <a:pPr marL="0" indent="0" algn="l">
              <a:buNone/>
            </a:pPr>
            <a:r>
              <a:rPr lang="en-US" sz="1100" b="1" kern="0" spc="100" dirty="0">
                <a:solidFill>
                  <a:srgbClr val="666666"/>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48640" y="365760"/>
            <a:ext cx="11064240" cy="731520"/>
          </a:xfrm>
          <a:prstGeom prst="rect">
            <a:avLst/>
          </a:prstGeom>
          <a:noFill/>
          <a:ln/>
        </p:spPr>
        <p:txBody>
          <a:bodyPr wrap="square" lIns="0" tIns="0" rIns="0" bIns="0" rtlCol="0" anchor="ctr"/>
          <a:lstStyle/>
          <a:p>
            <a:pPr marL="0" indent="0" algn="l">
              <a:buNone/>
            </a:pPr>
            <a:r>
              <a:rPr lang="en-US" sz="2800" b="1" dirty="0">
                <a:solidFill>
                  <a:srgbClr val="1E2A44"/>
                </a:solidFill>
                <a:latin typeface="Cambria" pitchFamily="34" charset="0"/>
                <a:ea typeface="Cambria" pitchFamily="34" charset="-122"/>
                <a:cs typeface="Cambria" pitchFamily="34" charset="-120"/>
              </a:rPr>
              <a:t>Baseline Model Comparison (TF-IDF)</a:t>
            </a:r>
            <a:endParaRPr lang="en-US" sz="2800" dirty="0"/>
          </a:p>
        </p:txBody>
      </p:sp>
      <p:sp>
        <p:nvSpPr>
          <p:cNvPr id="4" name="Shape 2"/>
          <p:cNvSpPr/>
          <p:nvPr/>
        </p:nvSpPr>
        <p:spPr>
          <a:xfrm>
            <a:off x="548640" y="1143000"/>
            <a:ext cx="11064240" cy="0"/>
          </a:xfrm>
          <a:prstGeom prst="line">
            <a:avLst/>
          </a:prstGeom>
          <a:noFill/>
          <a:ln w="12700">
            <a:solidFill>
              <a:srgbClr val="CCCCCC"/>
            </a:solidFill>
            <a:prstDash val="solid"/>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2514600"/>
        </p:xfrm>
        <a:graphic>
          <a:graphicData uri="http://schemas.openxmlformats.org/drawingml/2006/table">
            <a:tbl>
              <a:tblPr/>
              <a:tblGrid>
                <a:gridCol w="37490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502920">
                <a:tc>
                  <a:txBody>
                    <a:bodyPr/>
                    <a:lstStyle/>
                    <a:p>
                      <a:pPr marL="0" indent="0" algn="ctr">
                        <a:buNone/>
                      </a:pPr>
                      <a:r>
                        <a:rPr lang="en-US" sz="1500" b="1" dirty="0">
                          <a:solidFill>
                            <a:srgbClr val="1A1A1A"/>
                          </a:solidFill>
                          <a:latin typeface="Calibri" pitchFamily="34" charset="0"/>
                          <a:ea typeface="Calibri" pitchFamily="34" charset="-122"/>
                          <a:cs typeface="Calibri" pitchFamily="34" charset="-120"/>
                        </a:rPr>
                        <a:t>Model</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500" b="1" dirty="0">
                          <a:solidFill>
                            <a:srgbClr val="1A1A1A"/>
                          </a:solidFill>
                          <a:latin typeface="Calibri" pitchFamily="34" charset="0"/>
                          <a:ea typeface="Calibri" pitchFamily="34" charset="-122"/>
                          <a:cs typeface="Calibri" pitchFamily="34" charset="-120"/>
                        </a:rPr>
                        <a:t>Train Acc.</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500" b="1" dirty="0">
                          <a:solidFill>
                            <a:srgbClr val="1A1A1A"/>
                          </a:solidFill>
                          <a:latin typeface="Calibri" pitchFamily="34" charset="0"/>
                          <a:ea typeface="Calibri" pitchFamily="34" charset="-122"/>
                          <a:cs typeface="Calibri" pitchFamily="34" charset="-120"/>
                        </a:rPr>
                        <a:t>Test Acc.</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500" b="1" dirty="0">
                          <a:solidFill>
                            <a:srgbClr val="1A1A1A"/>
                          </a:solidFill>
                          <a:latin typeface="Calibri" pitchFamily="34" charset="0"/>
                          <a:ea typeface="Calibri" pitchFamily="34" charset="-122"/>
                          <a:cs typeface="Calibri" pitchFamily="34" charset="-120"/>
                        </a:rPr>
                        <a:t>F1 (Fake)</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500" b="1" dirty="0">
                          <a:solidFill>
                            <a:srgbClr val="1A1A1A"/>
                          </a:solidFill>
                          <a:latin typeface="Calibri" pitchFamily="34" charset="0"/>
                          <a:ea typeface="Calibri" pitchFamily="34" charset="-122"/>
                          <a:cs typeface="Calibri" pitchFamily="34" charset="-120"/>
                        </a:rPr>
                        <a:t>F1 (True)</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extLst>
                  <a:ext uri="{0D108BD9-81ED-4DB2-BD59-A6C34878D82A}">
                    <a16:rowId xmlns:a16="http://schemas.microsoft.com/office/drawing/2014/main" val="10000"/>
                  </a:ext>
                </a:extLst>
              </a:tr>
              <a:tr h="502920">
                <a:tc>
                  <a:txBody>
                    <a:bodyPr/>
                    <a:lstStyle/>
                    <a:p>
                      <a:pPr marL="0" indent="0" algn="l">
                        <a:buNone/>
                      </a:pPr>
                      <a:r>
                        <a:rPr lang="en-US" sz="1500" b="1" dirty="0">
                          <a:solidFill>
                            <a:srgbClr val="AA3626"/>
                          </a:solidFill>
                          <a:latin typeface="Calibri" pitchFamily="34" charset="0"/>
                          <a:ea typeface="Calibri" pitchFamily="34" charset="-122"/>
                          <a:cs typeface="Calibri" pitchFamily="34" charset="-120"/>
                        </a:rPr>
                        <a:t>KNN</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0.9093</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b="1" dirty="0">
                          <a:solidFill>
                            <a:srgbClr val="AA3626"/>
                          </a:solidFill>
                          <a:latin typeface="Calibri" pitchFamily="34" charset="0"/>
                          <a:ea typeface="Calibri" pitchFamily="34" charset="-122"/>
                          <a:cs typeface="Calibri" pitchFamily="34" charset="-120"/>
                        </a:rPr>
                        <a:t>0.8579</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0.8288</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0.8786</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500" dirty="0">
                          <a:solidFill>
                            <a:srgbClr val="1A1A1A"/>
                          </a:solidFill>
                          <a:latin typeface="Calibri" pitchFamily="34" charset="0"/>
                          <a:ea typeface="Calibri" pitchFamily="34" charset="-122"/>
                          <a:cs typeface="Calibri" pitchFamily="34" charset="-120"/>
                        </a:rPr>
                        <a:t>Logistic Regression</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0.9895</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0.9843</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0.9827</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0.9856</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lgn="l">
                        <a:buNone/>
                      </a:pPr>
                      <a:r>
                        <a:rPr lang="en-US" sz="1500" dirty="0">
                          <a:solidFill>
                            <a:srgbClr val="1A1A1A"/>
                          </a:solidFill>
                          <a:latin typeface="Calibri" pitchFamily="34" charset="0"/>
                          <a:ea typeface="Calibri" pitchFamily="34" charset="-122"/>
                          <a:cs typeface="Calibri" pitchFamily="34" charset="-120"/>
                        </a:rPr>
                        <a:t>Random Forest</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0.9817</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0.9720</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0.9687</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0.9747</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500" b="1" dirty="0">
                          <a:solidFill>
                            <a:srgbClr val="1E7A34"/>
                          </a:solidFill>
                          <a:latin typeface="Calibri" pitchFamily="34" charset="0"/>
                          <a:ea typeface="Calibri" pitchFamily="34" charset="-122"/>
                          <a:cs typeface="Calibri" pitchFamily="34" charset="-120"/>
                        </a:rPr>
                        <a:t>Neural Network</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1.0000</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b="1" dirty="0">
                          <a:solidFill>
                            <a:srgbClr val="1E7A34"/>
                          </a:solidFill>
                          <a:latin typeface="Calibri" pitchFamily="34" charset="0"/>
                          <a:ea typeface="Calibri" pitchFamily="34" charset="-122"/>
                          <a:cs typeface="Calibri" pitchFamily="34" charset="-120"/>
                        </a:rPr>
                        <a:t>0.9875</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0.9863</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0.9885</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ext 3"/>
          <p:cNvSpPr/>
          <p:nvPr/>
        </p:nvSpPr>
        <p:spPr>
          <a:xfrm>
            <a:off x="548640" y="4343400"/>
            <a:ext cx="11064240" cy="1920240"/>
          </a:xfrm>
          <a:prstGeom prst="rect">
            <a:avLst/>
          </a:prstGeom>
          <a:noFill/>
          <a:ln/>
        </p:spPr>
        <p:txBody>
          <a:bodyPr wrap="square" lIns="0" tIns="0" rIns="0" bIns="0" rtlCol="0" anchor="t"/>
          <a:lstStyle/>
          <a:p>
            <a:pPr marL="228600" indent="-228600" algn="l">
              <a:spcAft>
                <a:spcPts val="1000"/>
              </a:spcAft>
              <a:buSzPct val="100000"/>
              <a:buChar char="•"/>
            </a:pPr>
            <a:r>
              <a:rPr lang="en-US" sz="1600" b="1" dirty="0">
                <a:solidFill>
                  <a:srgbClr val="1E7A34"/>
                </a:solidFill>
                <a:latin typeface="Calibri" pitchFamily="34" charset="0"/>
                <a:ea typeface="Calibri" pitchFamily="34" charset="-122"/>
                <a:cs typeface="Calibri" pitchFamily="34" charset="-120"/>
              </a:rPr>
              <a:t>Neural Network leads on test accuracy (98.75%), Logistic Regression close behind (98.43%).</a:t>
            </a:r>
            <a:endParaRPr lang="en-US" sz="1600" dirty="0"/>
          </a:p>
          <a:p>
            <a:pPr marL="228600" indent="-228600" algn="l">
              <a:spcAft>
                <a:spcPts val="1000"/>
              </a:spcAft>
              <a:buSzPct val="100000"/>
              <a:buChar char="•"/>
            </a:pPr>
            <a:r>
              <a:rPr lang="en-US" sz="1600" b="1" dirty="0">
                <a:solidFill>
                  <a:srgbClr val="AA3626"/>
                </a:solidFill>
                <a:latin typeface="Calibri" pitchFamily="34" charset="0"/>
                <a:ea typeface="Calibri" pitchFamily="34" charset="-122"/>
                <a:cs typeface="Calibri" pitchFamily="34" charset="-120"/>
              </a:rPr>
              <a:t>KNN trails well behind at 85.79%, and only catches 75% of actual fake articles. Distance-based voting struggles in a 10,000-dimension sparse space.</a:t>
            </a:r>
            <a:endParaRPr lang="en-US" sz="1600" dirty="0"/>
          </a:p>
          <a:p>
            <a:pPr marL="228600" indent="-228600" algn="l">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Neural Network hits perfect training accuracy (1.0000), worth a caution flag, though test accuracy barely drops.</a:t>
            </a:r>
            <a:endParaRPr lang="en-US" sz="1600" dirty="0"/>
          </a:p>
        </p:txBody>
      </p:sp>
      <p:sp>
        <p:nvSpPr>
          <p:cNvPr id="7" name="Text 4"/>
          <p:cNvSpPr/>
          <p:nvPr/>
        </p:nvSpPr>
        <p:spPr>
          <a:xfrm>
            <a:off x="11521440" y="6446520"/>
            <a:ext cx="457200" cy="274320"/>
          </a:xfrm>
          <a:prstGeom prst="rect">
            <a:avLst/>
          </a:prstGeom>
          <a:noFill/>
          <a:ln/>
        </p:spPr>
        <p:txBody>
          <a:bodyPr wrap="square" lIns="0" tIns="0" rIns="0" bIns="0" rtlCol="0" anchor="ctr"/>
          <a:lstStyle/>
          <a:p>
            <a:pPr marL="0" indent="0" algn="r">
              <a:buNone/>
            </a:pPr>
            <a:r>
              <a:rPr lang="en-US" sz="1000" dirty="0">
                <a:solidFill>
                  <a:srgbClr val="666666"/>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137160"/>
            <a:ext cx="11064240" cy="274320"/>
          </a:xfrm>
          <a:prstGeom prst="rect">
            <a:avLst/>
          </a:prstGeom>
          <a:noFill/>
          <a:ln/>
        </p:spPr>
        <p:txBody>
          <a:bodyPr wrap="square" lIns="0" tIns="0" rIns="0" bIns="0" rtlCol="0" anchor="ctr"/>
          <a:lstStyle/>
          <a:p>
            <a:pPr marL="0" indent="0" algn="l">
              <a:buNone/>
            </a:pPr>
            <a:r>
              <a:rPr lang="en-US" sz="1100" b="1" kern="0" spc="100" dirty="0">
                <a:solidFill>
                  <a:srgbClr val="666666"/>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48640" y="365760"/>
            <a:ext cx="11064240" cy="731520"/>
          </a:xfrm>
          <a:prstGeom prst="rect">
            <a:avLst/>
          </a:prstGeom>
          <a:noFill/>
          <a:ln/>
        </p:spPr>
        <p:txBody>
          <a:bodyPr wrap="square" lIns="0" tIns="0" rIns="0" bIns="0" rtlCol="0" anchor="ctr"/>
          <a:lstStyle/>
          <a:p>
            <a:pPr marL="0" indent="0" algn="l">
              <a:buNone/>
            </a:pPr>
            <a:r>
              <a:rPr lang="en-US" sz="2800" b="1" dirty="0">
                <a:solidFill>
                  <a:srgbClr val="1E2A44"/>
                </a:solidFill>
                <a:latin typeface="Cambria" pitchFamily="34" charset="0"/>
                <a:ea typeface="Cambria" pitchFamily="34" charset="-122"/>
                <a:cs typeface="Cambria" pitchFamily="34" charset="-120"/>
              </a:rPr>
              <a:t>Confusion Matrices: Baseline Models</a:t>
            </a:r>
            <a:endParaRPr lang="en-US" sz="2800" dirty="0"/>
          </a:p>
        </p:txBody>
      </p:sp>
      <p:sp>
        <p:nvSpPr>
          <p:cNvPr id="4" name="Shape 2"/>
          <p:cNvSpPr/>
          <p:nvPr/>
        </p:nvSpPr>
        <p:spPr>
          <a:xfrm>
            <a:off x="548640" y="1143000"/>
            <a:ext cx="11064240" cy="0"/>
          </a:xfrm>
          <a:prstGeom prst="line">
            <a:avLst/>
          </a:prstGeom>
          <a:noFill/>
          <a:ln w="12700">
            <a:solidFill>
              <a:srgbClr val="CCCCCC"/>
            </a:solidFill>
            <a:prstDash val="solid"/>
          </a:ln>
        </p:spPr>
      </p:sp>
      <p:pic>
        <p:nvPicPr>
          <p:cNvPr id="5" name="Image 0" descr="/home/claude/ppt/images/cm_logreg.png"/>
          <p:cNvPicPr>
            <a:picLocks noChangeAspect="1"/>
          </p:cNvPicPr>
          <p:nvPr/>
        </p:nvPicPr>
        <p:blipFill>
          <a:blip r:embed="rId3"/>
          <a:stretch>
            <a:fillRect/>
          </a:stretch>
        </p:blipFill>
        <p:spPr>
          <a:xfrm>
            <a:off x="640080" y="1508760"/>
            <a:ext cx="2606040" cy="2258568"/>
          </a:xfrm>
          <a:prstGeom prst="rect">
            <a:avLst/>
          </a:prstGeom>
        </p:spPr>
      </p:pic>
      <p:pic>
        <p:nvPicPr>
          <p:cNvPr id="6" name="Image 1" descr="/home/claude/ppt/images/cm_rf.png"/>
          <p:cNvPicPr>
            <a:picLocks noChangeAspect="1"/>
          </p:cNvPicPr>
          <p:nvPr/>
        </p:nvPicPr>
        <p:blipFill>
          <a:blip r:embed="rId4"/>
          <a:stretch>
            <a:fillRect/>
          </a:stretch>
        </p:blipFill>
        <p:spPr>
          <a:xfrm>
            <a:off x="3520440" y="1508760"/>
            <a:ext cx="2606040" cy="2258568"/>
          </a:xfrm>
          <a:prstGeom prst="rect">
            <a:avLst/>
          </a:prstGeom>
        </p:spPr>
      </p:pic>
      <p:pic>
        <p:nvPicPr>
          <p:cNvPr id="7" name="Image 2" descr="/home/claude/ppt/images/cm_knn.png"/>
          <p:cNvPicPr>
            <a:picLocks noChangeAspect="1"/>
          </p:cNvPicPr>
          <p:nvPr/>
        </p:nvPicPr>
        <p:blipFill>
          <a:blip r:embed="rId5"/>
          <a:stretch>
            <a:fillRect/>
          </a:stretch>
        </p:blipFill>
        <p:spPr>
          <a:xfrm>
            <a:off x="6400800" y="1508760"/>
            <a:ext cx="2606040" cy="2258568"/>
          </a:xfrm>
          <a:prstGeom prst="rect">
            <a:avLst/>
          </a:prstGeom>
        </p:spPr>
      </p:pic>
      <p:pic>
        <p:nvPicPr>
          <p:cNvPr id="8" name="Image 3" descr="/home/claude/ppt/images/cm_nn.png"/>
          <p:cNvPicPr>
            <a:picLocks noChangeAspect="1"/>
          </p:cNvPicPr>
          <p:nvPr/>
        </p:nvPicPr>
        <p:blipFill>
          <a:blip r:embed="rId6"/>
          <a:stretch>
            <a:fillRect/>
          </a:stretch>
        </p:blipFill>
        <p:spPr>
          <a:xfrm>
            <a:off x="9281160" y="1508760"/>
            <a:ext cx="2606040" cy="2258568"/>
          </a:xfrm>
          <a:prstGeom prst="rect">
            <a:avLst/>
          </a:prstGeom>
        </p:spPr>
      </p:pic>
      <p:sp>
        <p:nvSpPr>
          <p:cNvPr id="9" name="Text 3"/>
          <p:cNvSpPr/>
          <p:nvPr/>
        </p:nvSpPr>
        <p:spPr>
          <a:xfrm>
            <a:off x="914400" y="4406689"/>
            <a:ext cx="11064240" cy="942551"/>
          </a:xfrm>
          <a:prstGeom prst="rect">
            <a:avLst/>
          </a:prstGeom>
          <a:noFill/>
          <a:ln/>
        </p:spPr>
        <p:txBody>
          <a:bodyPr wrap="square" lIns="0" tIns="0" rIns="0" bIns="0" rtlCol="0" anchor="ctr"/>
          <a:lstStyle/>
          <a:p>
            <a:pPr marL="285750" indent="-285750">
              <a:buFont typeface="Arial" panose="020B0604020202020204" pitchFamily="34" charset="0"/>
              <a:buChar char="•"/>
            </a:pPr>
            <a:r>
              <a:rPr lang="en-US" sz="1600" i="1" dirty="0">
                <a:latin typeface="Calibri" pitchFamily="34" charset="0"/>
                <a:ea typeface="Calibri" pitchFamily="34" charset="-122"/>
                <a:cs typeface="Calibri" pitchFamily="34" charset="-120"/>
              </a:rPr>
              <a:t>Every model over-predicts True slightly more than Fake, except KNN, whose Fake column is visibly leakier (893 fake articles mislabeled True).</a:t>
            </a:r>
          </a:p>
          <a:p>
            <a:pPr marL="285750" indent="-285750">
              <a:buFont typeface="Arial" panose="020B0604020202020204" pitchFamily="34" charset="0"/>
              <a:buChar char="•"/>
            </a:pPr>
            <a:endParaRPr lang="en-US" sz="1600" i="1" dirty="0">
              <a:latin typeface="Calibri" pitchFamily="34" charset="0"/>
              <a:ea typeface="Calibri" pitchFamily="34" charset="-122"/>
              <a:cs typeface="Calibri" pitchFamily="34" charset="-120"/>
            </a:endParaRPr>
          </a:p>
          <a:p>
            <a:pPr marL="285750" indent="-285750">
              <a:buFont typeface="Arial" panose="020B0604020202020204" pitchFamily="34" charset="0"/>
              <a:buChar char="•"/>
            </a:pPr>
            <a:r>
              <a:rPr lang="en-US" sz="1600" i="1" dirty="0"/>
              <a:t> Overall logistic Regression and Neural Network exhibit the fewest misclassifications.</a:t>
            </a:r>
          </a:p>
        </p:txBody>
      </p:sp>
      <p:sp>
        <p:nvSpPr>
          <p:cNvPr id="10" name="Text 4"/>
          <p:cNvSpPr/>
          <p:nvPr/>
        </p:nvSpPr>
        <p:spPr>
          <a:xfrm>
            <a:off x="11521440" y="6446520"/>
            <a:ext cx="457200" cy="274320"/>
          </a:xfrm>
          <a:prstGeom prst="rect">
            <a:avLst/>
          </a:prstGeom>
          <a:noFill/>
          <a:ln/>
        </p:spPr>
        <p:txBody>
          <a:bodyPr wrap="square" lIns="0" tIns="0" rIns="0" bIns="0" rtlCol="0" anchor="ctr"/>
          <a:lstStyle/>
          <a:p>
            <a:pPr marL="0" indent="0" algn="r">
              <a:buNone/>
            </a:pPr>
            <a:r>
              <a:rPr lang="en-US" sz="1000" dirty="0">
                <a:solidFill>
                  <a:srgbClr val="666666"/>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137160"/>
            <a:ext cx="11064240" cy="274320"/>
          </a:xfrm>
          <a:prstGeom prst="rect">
            <a:avLst/>
          </a:prstGeom>
          <a:noFill/>
          <a:ln/>
        </p:spPr>
        <p:txBody>
          <a:bodyPr wrap="square" lIns="0" tIns="0" rIns="0" bIns="0" rtlCol="0" anchor="ctr"/>
          <a:lstStyle/>
          <a:p>
            <a:pPr marL="0" indent="0" algn="l">
              <a:buNone/>
            </a:pPr>
            <a:r>
              <a:rPr lang="en-US" sz="1100" b="1" kern="0" spc="100" dirty="0">
                <a:solidFill>
                  <a:srgbClr val="666666"/>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48640" y="365760"/>
            <a:ext cx="11064240" cy="731520"/>
          </a:xfrm>
          <a:prstGeom prst="rect">
            <a:avLst/>
          </a:prstGeom>
          <a:noFill/>
          <a:ln/>
        </p:spPr>
        <p:txBody>
          <a:bodyPr wrap="square" lIns="0" tIns="0" rIns="0" bIns="0" rtlCol="0" anchor="ctr"/>
          <a:lstStyle/>
          <a:p>
            <a:pPr marL="0" indent="0" algn="l">
              <a:buNone/>
            </a:pPr>
            <a:r>
              <a:rPr lang="en-US" sz="2800" b="1" dirty="0">
                <a:solidFill>
                  <a:srgbClr val="1E2A44"/>
                </a:solidFill>
                <a:latin typeface="Cambria" pitchFamily="34" charset="0"/>
                <a:ea typeface="Cambria" pitchFamily="34" charset="-122"/>
                <a:cs typeface="Cambria" pitchFamily="34" charset="-120"/>
              </a:rPr>
              <a:t>Representation Comparison (Logistic Regression)</a:t>
            </a:r>
            <a:endParaRPr lang="en-US" sz="2800" dirty="0"/>
          </a:p>
        </p:txBody>
      </p:sp>
      <p:sp>
        <p:nvSpPr>
          <p:cNvPr id="4" name="Shape 2"/>
          <p:cNvSpPr/>
          <p:nvPr/>
        </p:nvSpPr>
        <p:spPr>
          <a:xfrm>
            <a:off x="548640" y="1143000"/>
            <a:ext cx="11064240" cy="0"/>
          </a:xfrm>
          <a:prstGeom prst="line">
            <a:avLst/>
          </a:prstGeom>
          <a:noFill/>
          <a:ln w="12700">
            <a:solidFill>
              <a:srgbClr val="CCCCCC"/>
            </a:solidFill>
            <a:prstDash val="solid"/>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2194560"/>
        </p:xfrm>
        <a:graphic>
          <a:graphicData uri="http://schemas.openxmlformats.org/drawingml/2006/table">
            <a:tbl>
              <a:tblPr/>
              <a:tblGrid>
                <a:gridCol w="37490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548640">
                <a:tc>
                  <a:txBody>
                    <a:bodyPr/>
                    <a:lstStyle/>
                    <a:p>
                      <a:pPr marL="0" indent="0" algn="ctr">
                        <a:buNone/>
                      </a:pPr>
                      <a:r>
                        <a:rPr lang="en-US" sz="1500" b="1" dirty="0">
                          <a:solidFill>
                            <a:srgbClr val="1A1A1A"/>
                          </a:solidFill>
                          <a:latin typeface="Calibri" pitchFamily="34" charset="0"/>
                          <a:ea typeface="Calibri" pitchFamily="34" charset="-122"/>
                          <a:cs typeface="Calibri" pitchFamily="34" charset="-120"/>
                        </a:rPr>
                        <a:t>Representation</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500" b="1" dirty="0">
                          <a:solidFill>
                            <a:srgbClr val="1A1A1A"/>
                          </a:solidFill>
                          <a:latin typeface="Calibri" pitchFamily="34" charset="0"/>
                          <a:ea typeface="Calibri" pitchFamily="34" charset="-122"/>
                          <a:cs typeface="Calibri" pitchFamily="34" charset="-120"/>
                        </a:rPr>
                        <a:t>Train Acc.</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500" b="1" dirty="0">
                          <a:solidFill>
                            <a:srgbClr val="1A1A1A"/>
                          </a:solidFill>
                          <a:latin typeface="Calibri" pitchFamily="34" charset="0"/>
                          <a:ea typeface="Calibri" pitchFamily="34" charset="-122"/>
                          <a:cs typeface="Calibri" pitchFamily="34" charset="-120"/>
                        </a:rPr>
                        <a:t>Test Acc.</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500" b="1" dirty="0">
                          <a:solidFill>
                            <a:srgbClr val="1A1A1A"/>
                          </a:solidFill>
                          <a:latin typeface="Calibri" pitchFamily="34" charset="0"/>
                          <a:ea typeface="Calibri" pitchFamily="34" charset="-122"/>
                          <a:cs typeface="Calibri" pitchFamily="34" charset="-120"/>
                        </a:rPr>
                        <a:t>F1 (Fake)</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500" b="1" dirty="0">
                          <a:solidFill>
                            <a:srgbClr val="1A1A1A"/>
                          </a:solidFill>
                          <a:latin typeface="Calibri" pitchFamily="34" charset="0"/>
                          <a:ea typeface="Calibri" pitchFamily="34" charset="-122"/>
                          <a:cs typeface="Calibri" pitchFamily="34" charset="-120"/>
                        </a:rPr>
                        <a:t>F1 (True)</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extLst>
                  <a:ext uri="{0D108BD9-81ED-4DB2-BD59-A6C34878D82A}">
                    <a16:rowId xmlns:a16="http://schemas.microsoft.com/office/drawing/2014/main" val="10000"/>
                  </a:ext>
                </a:extLst>
              </a:tr>
              <a:tr h="548640">
                <a:tc>
                  <a:txBody>
                    <a:bodyPr/>
                    <a:lstStyle/>
                    <a:p>
                      <a:pPr marL="0" indent="0" algn="l">
                        <a:buNone/>
                      </a:pPr>
                      <a:r>
                        <a:rPr lang="en-US" sz="1500" dirty="0">
                          <a:solidFill>
                            <a:srgbClr val="1A1A1A"/>
                          </a:solidFill>
                          <a:latin typeface="Calibri" pitchFamily="34" charset="0"/>
                          <a:ea typeface="Calibri" pitchFamily="34" charset="-122"/>
                          <a:cs typeface="Calibri" pitchFamily="34" charset="-120"/>
                        </a:rPr>
                        <a:t>TF-IDF</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0.9895</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0.9843</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0.9827</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0.9856</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lgn="l">
                        <a:buNone/>
                      </a:pPr>
                      <a:r>
                        <a:rPr lang="en-US" sz="1500" b="1" dirty="0">
                          <a:solidFill>
                            <a:srgbClr val="1E7A34"/>
                          </a:solidFill>
                          <a:latin typeface="Calibri" pitchFamily="34" charset="0"/>
                          <a:ea typeface="Calibri" pitchFamily="34" charset="-122"/>
                          <a:cs typeface="Calibri" pitchFamily="34" charset="-120"/>
                        </a:rPr>
                        <a:t>Bag-of-Words</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1.0000</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b="1" dirty="0">
                          <a:solidFill>
                            <a:srgbClr val="1E7A34"/>
                          </a:solidFill>
                          <a:latin typeface="Calibri" pitchFamily="34" charset="0"/>
                          <a:ea typeface="Calibri" pitchFamily="34" charset="-122"/>
                          <a:cs typeface="Calibri" pitchFamily="34" charset="-120"/>
                        </a:rPr>
                        <a:t>0.9937</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0.9931</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0.9942</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lgn="l">
                        <a:buNone/>
                      </a:pPr>
                      <a:r>
                        <a:rPr lang="en-US" sz="1500" dirty="0">
                          <a:solidFill>
                            <a:srgbClr val="1A1A1A"/>
                          </a:solidFill>
                          <a:latin typeface="Calibri" pitchFamily="34" charset="0"/>
                          <a:ea typeface="Calibri" pitchFamily="34" charset="-122"/>
                          <a:cs typeface="Calibri" pitchFamily="34" charset="-120"/>
                        </a:rPr>
                        <a:t>Word2Vec</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0.9824</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0.9807</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0.9789</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0.9822</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Text 3"/>
          <p:cNvSpPr/>
          <p:nvPr/>
        </p:nvSpPr>
        <p:spPr>
          <a:xfrm>
            <a:off x="548640" y="4069080"/>
            <a:ext cx="11064240" cy="2194560"/>
          </a:xfrm>
          <a:prstGeom prst="rect">
            <a:avLst/>
          </a:prstGeom>
          <a:noFill/>
          <a:ln/>
        </p:spPr>
        <p:txBody>
          <a:bodyPr wrap="square" lIns="0" tIns="0" rIns="0" bIns="0" rtlCol="0" anchor="t"/>
          <a:lstStyle/>
          <a:p>
            <a:pPr marL="228600" indent="-228600" algn="l">
              <a:spcAft>
                <a:spcPts val="1000"/>
              </a:spcAft>
              <a:buSzPct val="100000"/>
              <a:buChar char="•"/>
            </a:pPr>
            <a:r>
              <a:rPr lang="en-US" sz="1600" dirty="0">
                <a:solidFill>
                  <a:srgbClr val="1E7A34"/>
                </a:solidFill>
                <a:latin typeface="Calibri" pitchFamily="34" charset="0"/>
                <a:ea typeface="Calibri" pitchFamily="34" charset="-122"/>
                <a:cs typeface="Calibri" pitchFamily="34" charset="-120"/>
              </a:rPr>
              <a:t>Bag-of-Words edges out TF-IDF (99.37% vs 98.43%) despite being the simpler, unweighted representation, though its perfect 1.0000 train score is the same caution flag as the Neural Network's.</a:t>
            </a:r>
            <a:endParaRPr lang="en-US" sz="1600" dirty="0"/>
          </a:p>
          <a:p>
            <a:pPr marL="228600" indent="-228600" algn="l">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Word2Vec, compressed to just 100 dense dimensions, still reaches 98.07%, barely a point behind sparse 10,000-dimension methods.</a:t>
            </a:r>
            <a:endParaRPr lang="en-US" sz="1600" dirty="0"/>
          </a:p>
          <a:p>
            <a:pPr marL="228600" indent="-228600" algn="l">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All three land within one percentage point of each other. For this specific dataset, representation choice matters comparatively little, next to how strongly the two classes separate by vocabulary and topic</a:t>
            </a:r>
            <a:r>
              <a:rPr lang="en-US" sz="1400" dirty="0">
                <a:solidFill>
                  <a:srgbClr val="1A1A1A"/>
                </a:solidFill>
                <a:latin typeface="Calibri" pitchFamily="34" charset="0"/>
                <a:ea typeface="Calibri" pitchFamily="34" charset="-122"/>
                <a:cs typeface="Calibri" pitchFamily="34" charset="-120"/>
              </a:rPr>
              <a:t>.</a:t>
            </a:r>
            <a:endParaRPr lang="en-US" sz="1400" dirty="0"/>
          </a:p>
        </p:txBody>
      </p:sp>
      <p:sp>
        <p:nvSpPr>
          <p:cNvPr id="7" name="Text 4"/>
          <p:cNvSpPr/>
          <p:nvPr/>
        </p:nvSpPr>
        <p:spPr>
          <a:xfrm>
            <a:off x="11521440" y="6446520"/>
            <a:ext cx="457200" cy="274320"/>
          </a:xfrm>
          <a:prstGeom prst="rect">
            <a:avLst/>
          </a:prstGeom>
          <a:noFill/>
          <a:ln/>
        </p:spPr>
        <p:txBody>
          <a:bodyPr wrap="square" lIns="0" tIns="0" rIns="0" bIns="0" rtlCol="0" anchor="ctr"/>
          <a:lstStyle/>
          <a:p>
            <a:pPr marL="0" indent="0" algn="r">
              <a:buNone/>
            </a:pPr>
            <a:r>
              <a:rPr lang="en-US" sz="1000" dirty="0">
                <a:solidFill>
                  <a:srgbClr val="666666"/>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137160"/>
            <a:ext cx="11064240" cy="274320"/>
          </a:xfrm>
          <a:prstGeom prst="rect">
            <a:avLst/>
          </a:prstGeom>
          <a:noFill/>
          <a:ln/>
        </p:spPr>
        <p:txBody>
          <a:bodyPr wrap="square" lIns="0" tIns="0" rIns="0" bIns="0" rtlCol="0" anchor="ctr"/>
          <a:lstStyle/>
          <a:p>
            <a:pPr marL="0" indent="0" algn="l">
              <a:buNone/>
            </a:pPr>
            <a:r>
              <a:rPr lang="en-US" sz="1100" b="1" kern="0" spc="100" dirty="0">
                <a:solidFill>
                  <a:srgbClr val="666666"/>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48640" y="365760"/>
            <a:ext cx="11064240" cy="731520"/>
          </a:xfrm>
          <a:prstGeom prst="rect">
            <a:avLst/>
          </a:prstGeom>
          <a:noFill/>
          <a:ln/>
        </p:spPr>
        <p:txBody>
          <a:bodyPr wrap="square" lIns="0" tIns="0" rIns="0" bIns="0" rtlCol="0" anchor="ctr"/>
          <a:lstStyle/>
          <a:p>
            <a:pPr marL="0" indent="0" algn="l">
              <a:buNone/>
            </a:pPr>
            <a:r>
              <a:rPr lang="en-US" sz="2800" b="1" dirty="0">
                <a:solidFill>
                  <a:srgbClr val="1E2A44"/>
                </a:solidFill>
                <a:latin typeface="Cambria" pitchFamily="34" charset="0"/>
                <a:ea typeface="Cambria" pitchFamily="34" charset="-122"/>
                <a:cs typeface="Cambria" pitchFamily="34" charset="-120"/>
              </a:rPr>
              <a:t>Feature Importance: What the Model Relies On</a:t>
            </a:r>
            <a:endParaRPr lang="en-US" sz="2800" dirty="0"/>
          </a:p>
        </p:txBody>
      </p:sp>
      <p:sp>
        <p:nvSpPr>
          <p:cNvPr id="4" name="Shape 2"/>
          <p:cNvSpPr/>
          <p:nvPr/>
        </p:nvSpPr>
        <p:spPr>
          <a:xfrm>
            <a:off x="548640" y="1143000"/>
            <a:ext cx="11064240" cy="0"/>
          </a:xfrm>
          <a:prstGeom prst="line">
            <a:avLst/>
          </a:prstGeom>
          <a:noFill/>
          <a:ln w="12700">
            <a:solidFill>
              <a:srgbClr val="CCCCCC"/>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2514600"/>
        </p:xfrm>
        <a:graphic>
          <a:graphicData uri="http://schemas.openxmlformats.org/drawingml/2006/table">
            <a:tbl>
              <a:tblPr/>
              <a:tblGrid>
                <a:gridCol w="31089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502920">
                <a:tc>
                  <a:txBody>
                    <a:bodyPr/>
                    <a:lstStyle/>
                    <a:p>
                      <a:pPr marL="0" indent="0" algn="ctr">
                        <a:buNone/>
                      </a:pPr>
                      <a:r>
                        <a:rPr lang="en-US" sz="1500" b="1" dirty="0">
                          <a:solidFill>
                            <a:srgbClr val="1A1A1A"/>
                          </a:solidFill>
                          <a:latin typeface="Calibri" pitchFamily="34" charset="0"/>
                          <a:ea typeface="Calibri" pitchFamily="34" charset="-122"/>
                          <a:cs typeface="Calibri" pitchFamily="34" charset="-120"/>
                        </a:rPr>
                        <a:t>Toward True</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500" b="1" dirty="0">
                          <a:solidFill>
                            <a:srgbClr val="1A1A1A"/>
                          </a:solidFill>
                          <a:latin typeface="Calibri" pitchFamily="34" charset="0"/>
                          <a:ea typeface="Calibri" pitchFamily="34" charset="-122"/>
                          <a:cs typeface="Calibri" pitchFamily="34" charset="-120"/>
                        </a:rPr>
                        <a:t>Coefficient</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500" b="1" dirty="0">
                          <a:solidFill>
                            <a:srgbClr val="1A1A1A"/>
                          </a:solidFill>
                          <a:latin typeface="Calibri" pitchFamily="34" charset="0"/>
                          <a:ea typeface="Calibri" pitchFamily="34" charset="-122"/>
                          <a:cs typeface="Calibri" pitchFamily="34" charset="-120"/>
                        </a:rPr>
                        <a:t>Toward Fake</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500" b="1" dirty="0">
                          <a:solidFill>
                            <a:srgbClr val="1A1A1A"/>
                          </a:solidFill>
                          <a:latin typeface="Calibri" pitchFamily="34" charset="0"/>
                          <a:ea typeface="Calibri" pitchFamily="34" charset="-122"/>
                          <a:cs typeface="Calibri" pitchFamily="34" charset="-120"/>
                        </a:rPr>
                        <a:t>Coefficient</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extLst>
                  <a:ext uri="{0D108BD9-81ED-4DB2-BD59-A6C34878D82A}">
                    <a16:rowId xmlns:a16="http://schemas.microsoft.com/office/drawing/2014/main" val="10000"/>
                  </a:ext>
                </a:extLst>
              </a:tr>
              <a:tr h="502920">
                <a:tc>
                  <a:txBody>
                    <a:bodyPr/>
                    <a:lstStyle/>
                    <a:p>
                      <a:pPr marL="0" indent="0" algn="l">
                        <a:buNone/>
                      </a:pPr>
                      <a:r>
                        <a:rPr lang="en-US" sz="1500" b="1" dirty="0">
                          <a:solidFill>
                            <a:srgbClr val="AA3626"/>
                          </a:solidFill>
                          <a:latin typeface="Calibri" pitchFamily="34" charset="0"/>
                          <a:ea typeface="Calibri" pitchFamily="34" charset="-122"/>
                          <a:cs typeface="Calibri" pitchFamily="34" charset="-120"/>
                        </a:rPr>
                        <a:t>reuter</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b="1" dirty="0">
                          <a:solidFill>
                            <a:srgbClr val="AA3626"/>
                          </a:solidFill>
                          <a:latin typeface="Calibri" pitchFamily="34" charset="0"/>
                          <a:ea typeface="Calibri" pitchFamily="34" charset="-122"/>
                          <a:cs typeface="Calibri" pitchFamily="34" charset="-120"/>
                        </a:rPr>
                        <a:t>21.75</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video</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-8.96</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500" dirty="0">
                          <a:solidFill>
                            <a:srgbClr val="1A1A1A"/>
                          </a:solidFill>
                          <a:latin typeface="Calibri" pitchFamily="34" charset="0"/>
                          <a:ea typeface="Calibri" pitchFamily="34" charset="-122"/>
                          <a:cs typeface="Calibri" pitchFamily="34" charset="-120"/>
                        </a:rPr>
                        <a:t>said</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18.64</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imag</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-8.92</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lgn="l">
                        <a:buNone/>
                      </a:pPr>
                      <a:r>
                        <a:rPr lang="en-US" sz="1500" dirty="0">
                          <a:solidFill>
                            <a:srgbClr val="1A1A1A"/>
                          </a:solidFill>
                          <a:latin typeface="Calibri" pitchFamily="34" charset="0"/>
                          <a:ea typeface="Calibri" pitchFamily="34" charset="-122"/>
                          <a:cs typeface="Calibri" pitchFamily="34" charset="-120"/>
                        </a:rPr>
                        <a:t>washington</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6.18</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via</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-8.67</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500" dirty="0">
                          <a:solidFill>
                            <a:srgbClr val="1A1A1A"/>
                          </a:solidFill>
                          <a:latin typeface="Calibri" pitchFamily="34" charset="0"/>
                          <a:ea typeface="Calibri" pitchFamily="34" charset="-122"/>
                          <a:cs typeface="Calibri" pitchFamily="34" charset="-120"/>
                        </a:rPr>
                        <a:t>us</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5.50</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gop</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-5.73</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ext 3"/>
          <p:cNvSpPr/>
          <p:nvPr/>
        </p:nvSpPr>
        <p:spPr>
          <a:xfrm>
            <a:off x="548640" y="4320539"/>
            <a:ext cx="11064240" cy="320040"/>
          </a:xfrm>
          <a:prstGeom prst="rect">
            <a:avLst/>
          </a:prstGeom>
          <a:noFill/>
          <a:ln/>
        </p:spPr>
        <p:txBody>
          <a:bodyPr wrap="square" lIns="0" tIns="0" rIns="0" bIns="0" rtlCol="0" anchor="ctr"/>
          <a:lstStyle/>
          <a:p>
            <a:pPr marL="0" indent="0">
              <a:buNone/>
            </a:pPr>
            <a:r>
              <a:rPr lang="en-US" b="1" dirty="0">
                <a:solidFill>
                  <a:srgbClr val="AA3626"/>
                </a:solidFill>
                <a:latin typeface="Calibri" pitchFamily="34" charset="0"/>
                <a:ea typeface="Calibri" pitchFamily="34" charset="-122"/>
                <a:cs typeface="Calibri" pitchFamily="34" charset="-120"/>
              </a:rPr>
              <a:t>A limitation, not a strength:</a:t>
            </a:r>
            <a:endParaRPr lang="en-US" dirty="0"/>
          </a:p>
        </p:txBody>
      </p:sp>
      <p:sp>
        <p:nvSpPr>
          <p:cNvPr id="7" name="Text 4"/>
          <p:cNvSpPr/>
          <p:nvPr/>
        </p:nvSpPr>
        <p:spPr>
          <a:xfrm>
            <a:off x="548640" y="4709160"/>
            <a:ext cx="11064240" cy="1737360"/>
          </a:xfrm>
          <a:prstGeom prst="rect">
            <a:avLst/>
          </a:prstGeom>
          <a:noFill/>
          <a:ln/>
        </p:spPr>
        <p:txBody>
          <a:bodyPr wrap="square" lIns="0" tIns="0" rIns="0" bIns="0" rtlCol="0" anchor="t"/>
          <a:lstStyle/>
          <a:p>
            <a:pPr marL="228600" indent="-228600" algn="l">
              <a:spcAft>
                <a:spcPts val="1000"/>
              </a:spcAft>
              <a:buSzPct val="100000"/>
              <a:buChar char="•"/>
            </a:pPr>
            <a:r>
              <a:rPr lang="en-US" sz="1600" dirty="0">
                <a:solidFill>
                  <a:srgbClr val="AA3626"/>
                </a:solidFill>
                <a:latin typeface="Calibri" pitchFamily="34" charset="0"/>
                <a:ea typeface="Calibri" pitchFamily="34" charset="-122"/>
                <a:cs typeface="Calibri" pitchFamily="34" charset="-120"/>
              </a:rPr>
              <a:t>"reuter" is the single strongest word in the entire model, but every True article in this dataset is Reuters-sourced.</a:t>
            </a:r>
            <a:endParaRPr lang="en-US" sz="1600" dirty="0"/>
          </a:p>
          <a:p>
            <a:pPr marL="228600" indent="-228600" algn="l">
              <a:spcAft>
                <a:spcPts val="1000"/>
              </a:spcAft>
              <a:buSzPct val="100000"/>
              <a:buChar char="•"/>
            </a:pPr>
            <a:r>
              <a:rPr lang="en-US" sz="1600" dirty="0">
                <a:solidFill>
                  <a:srgbClr val="AA3626"/>
                </a:solidFill>
                <a:latin typeface="Calibri" pitchFamily="34" charset="0"/>
                <a:ea typeface="Calibri" pitchFamily="34" charset="-122"/>
                <a:cs typeface="Calibri" pitchFamily="34" charset="-120"/>
              </a:rPr>
              <a:t>The model has partly learned to recognize a wire-service byline, not a general property of trustworthy reporting.</a:t>
            </a:r>
            <a:endParaRPr lang="en-US" sz="1600" dirty="0"/>
          </a:p>
          <a:p>
            <a:pPr marL="228600" indent="-228600" algn="l">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"video," "imag," and "via" on the Fake side point to embedded media and sensational framing, a signal more likely to generalize.</a:t>
            </a:r>
            <a:endParaRPr lang="en-US" sz="1600" dirty="0"/>
          </a:p>
        </p:txBody>
      </p:sp>
      <p:sp>
        <p:nvSpPr>
          <p:cNvPr id="8" name="Text 5"/>
          <p:cNvSpPr/>
          <p:nvPr/>
        </p:nvSpPr>
        <p:spPr>
          <a:xfrm>
            <a:off x="11521440" y="6446520"/>
            <a:ext cx="457200" cy="274320"/>
          </a:xfrm>
          <a:prstGeom prst="rect">
            <a:avLst/>
          </a:prstGeom>
          <a:noFill/>
          <a:ln/>
        </p:spPr>
        <p:txBody>
          <a:bodyPr wrap="square" lIns="0" tIns="0" rIns="0" bIns="0" rtlCol="0" anchor="ctr"/>
          <a:lstStyle/>
          <a:p>
            <a:pPr marL="0" indent="0" algn="r">
              <a:buNone/>
            </a:pPr>
            <a:r>
              <a:rPr lang="en-US" sz="1000" dirty="0">
                <a:solidFill>
                  <a:srgbClr val="666666"/>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137160"/>
            <a:ext cx="11064240" cy="274320"/>
          </a:xfrm>
          <a:prstGeom prst="rect">
            <a:avLst/>
          </a:prstGeom>
          <a:noFill/>
          <a:ln/>
        </p:spPr>
        <p:txBody>
          <a:bodyPr wrap="square" lIns="0" tIns="0" rIns="0" bIns="0" rtlCol="0" anchor="ctr"/>
          <a:lstStyle/>
          <a:p>
            <a:pPr marL="0" indent="0" algn="l">
              <a:buNone/>
            </a:pPr>
            <a:r>
              <a:rPr lang="en-US" sz="1100" b="1" kern="0" spc="100" dirty="0">
                <a:solidFill>
                  <a:srgbClr val="666666"/>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48640" y="365760"/>
            <a:ext cx="11064240" cy="731520"/>
          </a:xfrm>
          <a:prstGeom prst="rect">
            <a:avLst/>
          </a:prstGeom>
          <a:noFill/>
          <a:ln/>
        </p:spPr>
        <p:txBody>
          <a:bodyPr wrap="square" lIns="0" tIns="0" rIns="0" bIns="0" rtlCol="0" anchor="ctr"/>
          <a:lstStyle/>
          <a:p>
            <a:pPr marL="0" indent="0" algn="l">
              <a:buNone/>
            </a:pPr>
            <a:r>
              <a:rPr lang="en-US" sz="2800" b="1" dirty="0">
                <a:solidFill>
                  <a:srgbClr val="1E2A44"/>
                </a:solidFill>
                <a:latin typeface="Cambria" pitchFamily="34" charset="0"/>
                <a:ea typeface="Cambria" pitchFamily="34" charset="-122"/>
                <a:cs typeface="Cambria" pitchFamily="34" charset="-120"/>
              </a:rPr>
              <a:t>Do Handcrafted Features Actually Help?</a:t>
            </a:r>
            <a:endParaRPr lang="en-US" sz="2800" dirty="0"/>
          </a:p>
        </p:txBody>
      </p:sp>
      <p:sp>
        <p:nvSpPr>
          <p:cNvPr id="4" name="Shape 2"/>
          <p:cNvSpPr/>
          <p:nvPr/>
        </p:nvSpPr>
        <p:spPr>
          <a:xfrm>
            <a:off x="548640" y="1143000"/>
            <a:ext cx="11064240" cy="0"/>
          </a:xfrm>
          <a:prstGeom prst="line">
            <a:avLst/>
          </a:prstGeom>
          <a:noFill/>
          <a:ln w="12700">
            <a:solidFill>
              <a:srgbClr val="CCCCCC"/>
            </a:solidFill>
            <a:prstDash val="solid"/>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1645920"/>
        </p:xfrm>
        <a:graphic>
          <a:graphicData uri="http://schemas.openxmlformats.org/drawingml/2006/table">
            <a:tbl>
              <a:tblPr/>
              <a:tblGrid>
                <a:gridCol w="329184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548640">
                <a:tc>
                  <a:txBody>
                    <a:bodyPr/>
                    <a:lstStyle/>
                    <a:p>
                      <a:pPr marL="0" indent="0" algn="ctr">
                        <a:buNone/>
                      </a:pPr>
                      <a:r>
                        <a:rPr lang="en-US" sz="1500" b="1" dirty="0">
                          <a:solidFill>
                            <a:srgbClr val="1A1A1A"/>
                          </a:solidFill>
                          <a:latin typeface="Calibri" pitchFamily="34" charset="0"/>
                          <a:ea typeface="Calibri" pitchFamily="34" charset="-122"/>
                          <a:cs typeface="Calibri" pitchFamily="34" charset="-120"/>
                        </a:rPr>
                        <a:t>Model</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500" b="1" dirty="0">
                          <a:solidFill>
                            <a:srgbClr val="1A1A1A"/>
                          </a:solidFill>
                          <a:latin typeface="Calibri" pitchFamily="34" charset="0"/>
                          <a:ea typeface="Calibri" pitchFamily="34" charset="-122"/>
                          <a:cs typeface="Calibri" pitchFamily="34" charset="-120"/>
                        </a:rPr>
                        <a:t>Test Acc. (TF-IDF)</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500" b="1" dirty="0">
                          <a:solidFill>
                            <a:srgbClr val="1A1A1A"/>
                          </a:solidFill>
                          <a:latin typeface="Calibri" pitchFamily="34" charset="0"/>
                          <a:ea typeface="Calibri" pitchFamily="34" charset="-122"/>
                          <a:cs typeface="Calibri" pitchFamily="34" charset="-120"/>
                        </a:rPr>
                        <a:t>Test Acc. (Enhanced)</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500" b="1" dirty="0">
                          <a:solidFill>
                            <a:srgbClr val="1A1A1A"/>
                          </a:solidFill>
                          <a:latin typeface="Calibri" pitchFamily="34" charset="0"/>
                          <a:ea typeface="Calibri" pitchFamily="34" charset="-122"/>
                          <a:cs typeface="Calibri" pitchFamily="34" charset="-120"/>
                        </a:rPr>
                        <a:t>Change</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extLst>
                  <a:ext uri="{0D108BD9-81ED-4DB2-BD59-A6C34878D82A}">
                    <a16:rowId xmlns:a16="http://schemas.microsoft.com/office/drawing/2014/main" val="10000"/>
                  </a:ext>
                </a:extLst>
              </a:tr>
              <a:tr h="548640">
                <a:tc>
                  <a:txBody>
                    <a:bodyPr/>
                    <a:lstStyle/>
                    <a:p>
                      <a:pPr marL="0" indent="0" algn="l">
                        <a:buNone/>
                      </a:pPr>
                      <a:r>
                        <a:rPr lang="en-US" sz="1500" dirty="0">
                          <a:solidFill>
                            <a:srgbClr val="1A1A1A"/>
                          </a:solidFill>
                          <a:latin typeface="Calibri" pitchFamily="34" charset="0"/>
                          <a:ea typeface="Calibri" pitchFamily="34" charset="-122"/>
                          <a:cs typeface="Calibri" pitchFamily="34" charset="-120"/>
                        </a:rPr>
                        <a:t>Logistic Regression</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0.9843</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0.9839</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b="1" dirty="0">
                          <a:solidFill>
                            <a:srgbClr val="AA3626"/>
                          </a:solidFill>
                          <a:latin typeface="Calibri" pitchFamily="34" charset="0"/>
                          <a:ea typeface="Calibri" pitchFamily="34" charset="-122"/>
                          <a:cs typeface="Calibri" pitchFamily="34" charset="-120"/>
                        </a:rPr>
                        <a:t>-0.0004</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lgn="l">
                        <a:buNone/>
                      </a:pPr>
                      <a:r>
                        <a:rPr lang="en-US" sz="1500" dirty="0">
                          <a:solidFill>
                            <a:srgbClr val="1A1A1A"/>
                          </a:solidFill>
                          <a:latin typeface="Calibri" pitchFamily="34" charset="0"/>
                          <a:ea typeface="Calibri" pitchFamily="34" charset="-122"/>
                          <a:cs typeface="Calibri" pitchFamily="34" charset="-120"/>
                        </a:rPr>
                        <a:t>Random Forest</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0.9720</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1A1A"/>
                          </a:solidFill>
                          <a:latin typeface="Calibri" pitchFamily="34" charset="0"/>
                          <a:ea typeface="Calibri" pitchFamily="34" charset="-122"/>
                          <a:cs typeface="Calibri" pitchFamily="34" charset="-120"/>
                        </a:rPr>
                        <a:t>0.9744</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500" b="1" dirty="0">
                          <a:solidFill>
                            <a:srgbClr val="1E7A34"/>
                          </a:solidFill>
                          <a:latin typeface="Calibri" pitchFamily="34" charset="0"/>
                          <a:ea typeface="Calibri" pitchFamily="34" charset="-122"/>
                          <a:cs typeface="Calibri" pitchFamily="34" charset="-120"/>
                        </a:rPr>
                        <a:t>+0.0024</a:t>
                      </a:r>
                      <a:endParaRPr lang="en-US" sz="15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6" name="Text 3"/>
          <p:cNvSpPr/>
          <p:nvPr/>
        </p:nvSpPr>
        <p:spPr>
          <a:xfrm>
            <a:off x="548640" y="3794759"/>
            <a:ext cx="11064240" cy="2468880"/>
          </a:xfrm>
          <a:prstGeom prst="rect">
            <a:avLst/>
          </a:prstGeom>
          <a:noFill/>
          <a:ln/>
        </p:spPr>
        <p:txBody>
          <a:bodyPr wrap="square" lIns="0" tIns="0" rIns="0" bIns="0" rtlCol="0" anchor="t"/>
          <a:lstStyle/>
          <a:p>
            <a:pPr marL="228600" indent="-228600" algn="l">
              <a:spcAft>
                <a:spcPts val="1000"/>
              </a:spcAft>
              <a:buSzPct val="100000"/>
              <a:buChar char="•"/>
            </a:pPr>
            <a:r>
              <a:rPr lang="en-US" sz="1600" dirty="0">
                <a:solidFill>
                  <a:srgbClr val="AA3626"/>
                </a:solidFill>
                <a:latin typeface="Calibri" pitchFamily="34" charset="0"/>
                <a:ea typeface="Calibri" pitchFamily="34" charset="-122"/>
                <a:cs typeface="Calibri" pitchFamily="34" charset="-120"/>
              </a:rPr>
              <a:t>Logistic Regression: essentially flat. Two new columns get added alongside 10,000 existing TF-IDF weights, too small in relative influence to move an already-accurate linear boundary.</a:t>
            </a:r>
            <a:endParaRPr lang="en-US" sz="1600" dirty="0"/>
          </a:p>
          <a:p>
            <a:pPr marL="228600" indent="-228600">
              <a:spcAft>
                <a:spcPts val="1000"/>
              </a:spcAft>
              <a:buSzPct val="100000"/>
              <a:buChar char="•"/>
            </a:pPr>
            <a:r>
              <a:rPr lang="en-US" sz="1600" dirty="0">
                <a:solidFill>
                  <a:srgbClr val="1E7A34"/>
                </a:solidFill>
                <a:latin typeface="Calibri" pitchFamily="34" charset="0"/>
                <a:ea typeface="Calibri" pitchFamily="34" charset="-122"/>
                <a:cs typeface="Calibri" pitchFamily="34" charset="-120"/>
              </a:rPr>
              <a:t>Random Forest: a real, if modest, gain. A tree </a:t>
            </a:r>
            <a:r>
              <a:rPr lang="en-IN" sz="1600" dirty="0">
                <a:solidFill>
                  <a:srgbClr val="1E7A34"/>
                </a:solidFill>
                <a:latin typeface="Calibri" pitchFamily="34" charset="0"/>
                <a:ea typeface="Calibri" pitchFamily="34" charset="-122"/>
                <a:cs typeface="Calibri" pitchFamily="34" charset="-120"/>
              </a:rPr>
              <a:t>can naturally</a:t>
            </a:r>
            <a:r>
              <a:rPr lang="en-US" sz="1600" dirty="0">
                <a:solidFill>
                  <a:srgbClr val="1E7A34"/>
                </a:solidFill>
                <a:latin typeface="Calibri" pitchFamily="34" charset="0"/>
                <a:ea typeface="Calibri" pitchFamily="34" charset="-122"/>
                <a:cs typeface="Calibri" pitchFamily="34" charset="-120"/>
              </a:rPr>
              <a:t> split directly on a raw text_length or exclamation_count value, a mechanism a linear model doesn't have.</a:t>
            </a:r>
            <a:endParaRPr lang="en-US" sz="1600" dirty="0"/>
          </a:p>
          <a:p>
            <a:pPr marL="228600" indent="-228600" algn="l">
              <a:spcAft>
                <a:spcPts val="1000"/>
              </a:spcAft>
              <a:buSzPct val="100000"/>
              <a:buChar char="•"/>
            </a:pPr>
            <a:r>
              <a:rPr lang="en-US" sz="1600" b="1" dirty="0">
                <a:solidFill>
                  <a:srgbClr val="1E2A44"/>
                </a:solidFill>
                <a:latin typeface="Calibri" pitchFamily="34" charset="0"/>
                <a:ea typeface="Calibri" pitchFamily="34" charset="-122"/>
                <a:cs typeface="Calibri" pitchFamily="34" charset="-120"/>
              </a:rPr>
              <a:t>Conclusion: Engineered features help the model that can act on them directly, and do effectively nothing for the one that can't.</a:t>
            </a:r>
            <a:endParaRPr lang="en-US" sz="1600" dirty="0"/>
          </a:p>
        </p:txBody>
      </p:sp>
      <p:sp>
        <p:nvSpPr>
          <p:cNvPr id="7" name="Text 4"/>
          <p:cNvSpPr/>
          <p:nvPr/>
        </p:nvSpPr>
        <p:spPr>
          <a:xfrm>
            <a:off x="11521440" y="6446520"/>
            <a:ext cx="457200" cy="274320"/>
          </a:xfrm>
          <a:prstGeom prst="rect">
            <a:avLst/>
          </a:prstGeom>
          <a:noFill/>
          <a:ln/>
        </p:spPr>
        <p:txBody>
          <a:bodyPr wrap="square" lIns="0" tIns="0" rIns="0" bIns="0" rtlCol="0" anchor="ctr"/>
          <a:lstStyle/>
          <a:p>
            <a:pPr marL="0" indent="0" algn="r">
              <a:buNone/>
            </a:pPr>
            <a:r>
              <a:rPr lang="en-US" sz="1000" dirty="0">
                <a:solidFill>
                  <a:srgbClr val="666666"/>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137160"/>
            <a:ext cx="11064240" cy="274320"/>
          </a:xfrm>
          <a:prstGeom prst="rect">
            <a:avLst/>
          </a:prstGeom>
          <a:noFill/>
          <a:ln/>
        </p:spPr>
        <p:txBody>
          <a:bodyPr wrap="square" lIns="0" tIns="0" rIns="0" bIns="0" rtlCol="0" anchor="ctr"/>
          <a:lstStyle/>
          <a:p>
            <a:pPr marL="0" indent="0" algn="l">
              <a:buNone/>
            </a:pPr>
            <a:r>
              <a:rPr lang="en-US" sz="1100" b="1" kern="0" spc="100" dirty="0">
                <a:solidFill>
                  <a:srgbClr val="666666"/>
                </a:solidFill>
                <a:latin typeface="Calibri" pitchFamily="34" charset="0"/>
                <a:ea typeface="Calibri" pitchFamily="34" charset="-122"/>
                <a:cs typeface="Calibri" pitchFamily="34" charset="-120"/>
              </a:rPr>
              <a:t>DISCUSSION</a:t>
            </a:r>
            <a:endParaRPr lang="en-US" sz="1100" dirty="0"/>
          </a:p>
        </p:txBody>
      </p:sp>
      <p:sp>
        <p:nvSpPr>
          <p:cNvPr id="3" name="Text 1"/>
          <p:cNvSpPr/>
          <p:nvPr/>
        </p:nvSpPr>
        <p:spPr>
          <a:xfrm>
            <a:off x="548640" y="365760"/>
            <a:ext cx="11064240" cy="731520"/>
          </a:xfrm>
          <a:prstGeom prst="rect">
            <a:avLst/>
          </a:prstGeom>
          <a:noFill/>
          <a:ln/>
        </p:spPr>
        <p:txBody>
          <a:bodyPr wrap="square" lIns="0" tIns="0" rIns="0" bIns="0" rtlCol="0" anchor="ctr"/>
          <a:lstStyle/>
          <a:p>
            <a:pPr marL="0" indent="0" algn="l">
              <a:buNone/>
            </a:pPr>
            <a:r>
              <a:rPr lang="en-US" sz="2800" b="1" dirty="0">
                <a:solidFill>
                  <a:srgbClr val="1E2A44"/>
                </a:solidFill>
                <a:latin typeface="Cambria" pitchFamily="34" charset="0"/>
                <a:ea typeface="Cambria" pitchFamily="34" charset="-122"/>
                <a:cs typeface="Cambria" pitchFamily="34" charset="-120"/>
              </a:rPr>
              <a:t>Error Analysis: Which False Is Costlier?</a:t>
            </a:r>
            <a:endParaRPr lang="en-US" sz="2800" dirty="0"/>
          </a:p>
        </p:txBody>
      </p:sp>
      <p:sp>
        <p:nvSpPr>
          <p:cNvPr id="4" name="Shape 2"/>
          <p:cNvSpPr/>
          <p:nvPr/>
        </p:nvSpPr>
        <p:spPr>
          <a:xfrm>
            <a:off x="548640" y="1143000"/>
            <a:ext cx="11064240" cy="0"/>
          </a:xfrm>
          <a:prstGeom prst="line">
            <a:avLst/>
          </a:prstGeom>
          <a:noFill/>
          <a:ln w="12700">
            <a:solidFill>
              <a:srgbClr val="CCCCCC"/>
            </a:solidFill>
            <a:prstDash val="solid"/>
          </a:ln>
        </p:spPr>
      </p:sp>
      <p:sp>
        <p:nvSpPr>
          <p:cNvPr id="5" name="Text 3"/>
          <p:cNvSpPr/>
          <p:nvPr/>
        </p:nvSpPr>
        <p:spPr>
          <a:xfrm>
            <a:off x="914400" y="2269156"/>
            <a:ext cx="2286000" cy="914400"/>
          </a:xfrm>
          <a:prstGeom prst="rect">
            <a:avLst/>
          </a:prstGeom>
          <a:noFill/>
          <a:ln/>
        </p:spPr>
        <p:txBody>
          <a:bodyPr wrap="square" lIns="0" tIns="0" rIns="0" bIns="0" rtlCol="0" anchor="ctr"/>
          <a:lstStyle/>
          <a:p>
            <a:pPr marL="0" indent="0" algn="ctr">
              <a:buNone/>
            </a:pPr>
            <a:r>
              <a:rPr lang="en-US" sz="6000" b="1" dirty="0">
                <a:solidFill>
                  <a:srgbClr val="1E7A34"/>
                </a:solidFill>
                <a:latin typeface="Cambria" pitchFamily="34" charset="0"/>
                <a:ea typeface="Cambria" pitchFamily="34" charset="-122"/>
                <a:cs typeface="Cambria" pitchFamily="34" charset="-120"/>
              </a:rPr>
              <a:t>80</a:t>
            </a:r>
            <a:endParaRPr lang="en-US" sz="6000" dirty="0"/>
          </a:p>
        </p:txBody>
      </p:sp>
      <p:sp>
        <p:nvSpPr>
          <p:cNvPr id="6" name="Text 4"/>
          <p:cNvSpPr/>
          <p:nvPr/>
        </p:nvSpPr>
        <p:spPr>
          <a:xfrm>
            <a:off x="457200" y="3366436"/>
            <a:ext cx="3200400" cy="640080"/>
          </a:xfrm>
          <a:prstGeom prst="rect">
            <a:avLst/>
          </a:prstGeom>
          <a:noFill/>
          <a:ln/>
        </p:spPr>
        <p:txBody>
          <a:bodyPr wrap="square" lIns="0" tIns="0" rIns="0" bIns="0" rtlCol="0" anchor="ctr"/>
          <a:lstStyle/>
          <a:p>
            <a:pPr marL="0" indent="0" algn="ctr">
              <a:buNone/>
            </a:pPr>
            <a:r>
              <a:rPr lang="en-US" sz="1300" dirty="0">
                <a:solidFill>
                  <a:srgbClr val="666666"/>
                </a:solidFill>
                <a:latin typeface="Calibri" pitchFamily="34" charset="0"/>
                <a:ea typeface="Calibri" pitchFamily="34" charset="-122"/>
                <a:cs typeface="Calibri" pitchFamily="34" charset="-120"/>
              </a:rPr>
              <a:t>False Positives</a:t>
            </a:r>
            <a:endParaRPr lang="en-US" sz="1300" dirty="0"/>
          </a:p>
          <a:p>
            <a:pPr marL="0" indent="0" algn="ctr">
              <a:buNone/>
            </a:pPr>
            <a:r>
              <a:rPr lang="en-US" sz="1300" dirty="0">
                <a:solidFill>
                  <a:srgbClr val="666666"/>
                </a:solidFill>
                <a:latin typeface="Calibri" pitchFamily="34" charset="0"/>
                <a:ea typeface="Calibri" pitchFamily="34" charset="-122"/>
                <a:cs typeface="Calibri" pitchFamily="34" charset="-120"/>
              </a:rPr>
              <a:t>(real news flagged Fake)</a:t>
            </a:r>
            <a:endParaRPr lang="en-US" sz="1300" dirty="0"/>
          </a:p>
        </p:txBody>
      </p:sp>
      <p:sp>
        <p:nvSpPr>
          <p:cNvPr id="7" name="Text 5"/>
          <p:cNvSpPr/>
          <p:nvPr/>
        </p:nvSpPr>
        <p:spPr>
          <a:xfrm>
            <a:off x="8503920" y="2269156"/>
            <a:ext cx="2286000" cy="914400"/>
          </a:xfrm>
          <a:prstGeom prst="rect">
            <a:avLst/>
          </a:prstGeom>
          <a:noFill/>
          <a:ln/>
        </p:spPr>
        <p:txBody>
          <a:bodyPr wrap="square" lIns="0" tIns="0" rIns="0" bIns="0" rtlCol="0" anchor="ctr"/>
          <a:lstStyle/>
          <a:p>
            <a:pPr marL="0" indent="0" algn="ctr">
              <a:buNone/>
            </a:pPr>
            <a:r>
              <a:rPr lang="en-US" sz="6000" b="1" dirty="0">
                <a:solidFill>
                  <a:srgbClr val="AA3626"/>
                </a:solidFill>
                <a:latin typeface="Cambria" pitchFamily="34" charset="0"/>
                <a:ea typeface="Cambria" pitchFamily="34" charset="-122"/>
                <a:cs typeface="Cambria" pitchFamily="34" charset="-120"/>
              </a:rPr>
              <a:t>46</a:t>
            </a:r>
            <a:endParaRPr lang="en-US" sz="6000" dirty="0"/>
          </a:p>
        </p:txBody>
      </p:sp>
      <p:sp>
        <p:nvSpPr>
          <p:cNvPr id="8" name="Text 6"/>
          <p:cNvSpPr/>
          <p:nvPr/>
        </p:nvSpPr>
        <p:spPr>
          <a:xfrm>
            <a:off x="8046720" y="3366436"/>
            <a:ext cx="3200400" cy="640080"/>
          </a:xfrm>
          <a:prstGeom prst="rect">
            <a:avLst/>
          </a:prstGeom>
          <a:noFill/>
          <a:ln/>
        </p:spPr>
        <p:txBody>
          <a:bodyPr wrap="square" lIns="0" tIns="0" rIns="0" bIns="0" rtlCol="0" anchor="ctr"/>
          <a:lstStyle/>
          <a:p>
            <a:pPr marL="0" indent="0" algn="ctr">
              <a:buNone/>
            </a:pPr>
            <a:r>
              <a:rPr lang="en-US" sz="1300" dirty="0">
                <a:solidFill>
                  <a:srgbClr val="666666"/>
                </a:solidFill>
                <a:latin typeface="Calibri" pitchFamily="34" charset="0"/>
                <a:ea typeface="Calibri" pitchFamily="34" charset="-122"/>
                <a:cs typeface="Calibri" pitchFamily="34" charset="-120"/>
              </a:rPr>
              <a:t>False Negatives</a:t>
            </a:r>
            <a:endParaRPr lang="en-US" sz="1300" dirty="0"/>
          </a:p>
          <a:p>
            <a:pPr marL="0" indent="0" algn="ctr">
              <a:buNone/>
            </a:pPr>
            <a:r>
              <a:rPr lang="en-US" sz="1300" dirty="0">
                <a:solidFill>
                  <a:srgbClr val="666666"/>
                </a:solidFill>
                <a:latin typeface="Calibri" pitchFamily="34" charset="0"/>
                <a:ea typeface="Calibri" pitchFamily="34" charset="-122"/>
                <a:cs typeface="Calibri" pitchFamily="34" charset="-120"/>
              </a:rPr>
              <a:t>(fake news flagged True)</a:t>
            </a:r>
            <a:endParaRPr lang="en-US" sz="1300" dirty="0"/>
          </a:p>
        </p:txBody>
      </p:sp>
      <p:sp>
        <p:nvSpPr>
          <p:cNvPr id="9" name="Text 7"/>
          <p:cNvSpPr/>
          <p:nvPr/>
        </p:nvSpPr>
        <p:spPr>
          <a:xfrm>
            <a:off x="3931920" y="2269156"/>
            <a:ext cx="4297680" cy="2926080"/>
          </a:xfrm>
          <a:prstGeom prst="rect">
            <a:avLst/>
          </a:prstGeom>
          <a:noFill/>
          <a:ln/>
        </p:spPr>
        <p:txBody>
          <a:bodyPr wrap="square" lIns="0" tIns="0" rIns="0" bIns="0" rtlCol="0" anchor="t"/>
          <a:lstStyle/>
          <a:p>
            <a:pPr marL="228600" indent="-228600" algn="l">
              <a:spcAft>
                <a:spcPts val="1000"/>
              </a:spcAft>
              <a:buSzPct val="100000"/>
              <a:buChar char="•"/>
            </a:pPr>
            <a:r>
              <a:rPr lang="en-US" sz="1300" dirty="0">
                <a:solidFill>
                  <a:srgbClr val="1A1A1A"/>
                </a:solidFill>
                <a:latin typeface="Calibri" pitchFamily="34" charset="0"/>
                <a:ea typeface="Calibri" pitchFamily="34" charset="-122"/>
                <a:cs typeface="Calibri" pitchFamily="34" charset="-120"/>
              </a:rPr>
              <a:t>For a filtering tool meant to catch fake content before a reader sees it, these two errors are not equally costly. A false negative lets fabricated content reach a reader unlabeled.</a:t>
            </a:r>
            <a:endParaRPr lang="en-US" sz="1300" dirty="0"/>
          </a:p>
          <a:p>
            <a:pPr marL="228600" indent="-228600" algn="l">
              <a:spcAft>
                <a:spcPts val="1000"/>
              </a:spcAft>
              <a:buSzPct val="100000"/>
              <a:buChar char="•"/>
            </a:pPr>
            <a:r>
              <a:rPr lang="en-US" sz="1300" dirty="0">
                <a:solidFill>
                  <a:srgbClr val="1A1A1A"/>
                </a:solidFill>
                <a:latin typeface="Calibri" pitchFamily="34" charset="0"/>
                <a:ea typeface="Calibri" pitchFamily="34" charset="-122"/>
                <a:cs typeface="Calibri" pitchFamily="34" charset="-120"/>
              </a:rPr>
              <a:t>A false positive wrongly flags a real article, a cost too, but one a human reviewer can typically catch and reverse.</a:t>
            </a:r>
            <a:endParaRPr lang="en-US" sz="1300" dirty="0"/>
          </a:p>
          <a:p>
            <a:pPr marL="228600" indent="-228600" algn="l">
              <a:spcAft>
                <a:spcPts val="1000"/>
              </a:spcAft>
              <a:buSzPct val="100000"/>
              <a:buChar char="•"/>
            </a:pPr>
            <a:r>
              <a:rPr lang="en-US" sz="1300" dirty="0">
                <a:solidFill>
                  <a:srgbClr val="1A1A1A"/>
                </a:solidFill>
                <a:latin typeface="Calibri" pitchFamily="34" charset="0"/>
                <a:ea typeface="Calibri" pitchFamily="34" charset="-122"/>
                <a:cs typeface="Calibri" pitchFamily="34" charset="-120"/>
              </a:rPr>
              <a:t>This model's actual error mix (80 FP vs 46 FN, roughly 1.7-to-1) leans toward the safer failure direction, for that specific use case.</a:t>
            </a:r>
            <a:endParaRPr lang="en-US" sz="1300" dirty="0"/>
          </a:p>
        </p:txBody>
      </p:sp>
      <p:sp>
        <p:nvSpPr>
          <p:cNvPr id="10" name="Text 8"/>
          <p:cNvSpPr/>
          <p:nvPr/>
        </p:nvSpPr>
        <p:spPr>
          <a:xfrm>
            <a:off x="548640" y="5029200"/>
            <a:ext cx="11064240" cy="822960"/>
          </a:xfrm>
          <a:prstGeom prst="rect">
            <a:avLst/>
          </a:prstGeom>
          <a:noFill/>
          <a:ln/>
        </p:spPr>
        <p:txBody>
          <a:bodyPr wrap="square" lIns="0" tIns="0" rIns="0" bIns="0" rtlCol="0" anchor="ctr"/>
          <a:lstStyle/>
          <a:p>
            <a:pPr marL="0" indent="0" algn="ctr">
              <a:buNone/>
            </a:pPr>
            <a:r>
              <a:rPr lang="en-US" sz="1600" i="1" dirty="0">
                <a:latin typeface="Calibri" pitchFamily="34" charset="0"/>
                <a:ea typeface="Calibri" pitchFamily="34" charset="-122"/>
                <a:cs typeface="Calibri" pitchFamily="34" charset="-120"/>
              </a:rPr>
              <a:t>Two of the three sampled false negatives were genuine Reuters pieces critical of Donald Trump. The opinionated vocabulary may have pulled a correctly-sourced article toward a wrong prediction.</a:t>
            </a:r>
            <a:endParaRPr lang="en-US" sz="1600" dirty="0"/>
          </a:p>
        </p:txBody>
      </p:sp>
      <p:sp>
        <p:nvSpPr>
          <p:cNvPr id="11" name="Text 9"/>
          <p:cNvSpPr/>
          <p:nvPr/>
        </p:nvSpPr>
        <p:spPr>
          <a:xfrm>
            <a:off x="11521440" y="7024036"/>
            <a:ext cx="457200" cy="274320"/>
          </a:xfrm>
          <a:prstGeom prst="rect">
            <a:avLst/>
          </a:prstGeom>
          <a:noFill/>
          <a:ln/>
        </p:spPr>
        <p:txBody>
          <a:bodyPr wrap="square" lIns="0" tIns="0" rIns="0" bIns="0" rtlCol="0" anchor="ctr"/>
          <a:lstStyle/>
          <a:p>
            <a:pPr marL="0" indent="0" algn="r">
              <a:buNone/>
            </a:pPr>
            <a:r>
              <a:rPr lang="en-US" sz="1000" dirty="0">
                <a:solidFill>
                  <a:srgbClr val="666666"/>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137160"/>
            <a:ext cx="11064240" cy="274320"/>
          </a:xfrm>
          <a:prstGeom prst="rect">
            <a:avLst/>
          </a:prstGeom>
          <a:noFill/>
          <a:ln/>
        </p:spPr>
        <p:txBody>
          <a:bodyPr wrap="square" lIns="0" tIns="0" rIns="0" bIns="0" rtlCol="0" anchor="ctr"/>
          <a:lstStyle/>
          <a:p>
            <a:pPr marL="0" indent="0" algn="l">
              <a:buNone/>
            </a:pPr>
            <a:r>
              <a:rPr lang="en-US" sz="1100" b="1" kern="0" spc="100" dirty="0">
                <a:solidFill>
                  <a:srgbClr val="666666"/>
                </a:solidFill>
                <a:latin typeface="Calibri" pitchFamily="34" charset="0"/>
                <a:ea typeface="Calibri" pitchFamily="34" charset="-122"/>
                <a:cs typeface="Calibri" pitchFamily="34" charset="-120"/>
              </a:rPr>
              <a:t>DISCUSSION</a:t>
            </a:r>
            <a:endParaRPr lang="en-US" sz="1100" dirty="0"/>
          </a:p>
        </p:txBody>
      </p:sp>
      <p:sp>
        <p:nvSpPr>
          <p:cNvPr id="3" name="Text 1"/>
          <p:cNvSpPr/>
          <p:nvPr/>
        </p:nvSpPr>
        <p:spPr>
          <a:xfrm>
            <a:off x="548640" y="365760"/>
            <a:ext cx="11064240" cy="731520"/>
          </a:xfrm>
          <a:prstGeom prst="rect">
            <a:avLst/>
          </a:prstGeom>
          <a:noFill/>
          <a:ln/>
        </p:spPr>
        <p:txBody>
          <a:bodyPr wrap="square" lIns="0" tIns="0" rIns="0" bIns="0" rtlCol="0" anchor="ctr"/>
          <a:lstStyle/>
          <a:p>
            <a:pPr marL="0" indent="0" algn="l">
              <a:buNone/>
            </a:pPr>
            <a:r>
              <a:rPr lang="en-US" sz="2800" b="1" dirty="0">
                <a:solidFill>
                  <a:srgbClr val="1E2A44"/>
                </a:solidFill>
                <a:latin typeface="Cambria" pitchFamily="34" charset="0"/>
                <a:ea typeface="Cambria" pitchFamily="34" charset="-122"/>
                <a:cs typeface="Cambria" pitchFamily="34" charset="-120"/>
              </a:rPr>
              <a:t>Custom Prediction: A Quick Sanity Check</a:t>
            </a:r>
            <a:endParaRPr lang="en-US" sz="2800" dirty="0"/>
          </a:p>
        </p:txBody>
      </p:sp>
      <p:sp>
        <p:nvSpPr>
          <p:cNvPr id="4" name="Shape 2"/>
          <p:cNvSpPr/>
          <p:nvPr/>
        </p:nvSpPr>
        <p:spPr>
          <a:xfrm>
            <a:off x="548640" y="1143000"/>
            <a:ext cx="11064240" cy="0"/>
          </a:xfrm>
          <a:prstGeom prst="line">
            <a:avLst/>
          </a:prstGeom>
          <a:noFill/>
          <a:ln w="12700">
            <a:solidFill>
              <a:srgbClr val="CCCCCC"/>
            </a:solidFill>
            <a:prstDash val="solid"/>
          </a:ln>
        </p:spPr>
      </p:sp>
      <p:sp>
        <p:nvSpPr>
          <p:cNvPr id="5" name="Shape 3"/>
          <p:cNvSpPr/>
          <p:nvPr/>
        </p:nvSpPr>
        <p:spPr>
          <a:xfrm>
            <a:off x="548640" y="1463040"/>
            <a:ext cx="11064240" cy="1188720"/>
          </a:xfrm>
          <a:prstGeom prst="roundRect">
            <a:avLst>
              <a:gd name="adj" fmla="val 4615"/>
            </a:avLst>
          </a:prstGeom>
          <a:solidFill>
            <a:srgbClr val="F5F5F5"/>
          </a:solidFill>
          <a:ln w="9525">
            <a:solidFill>
              <a:srgbClr val="CCCCCC"/>
            </a:solidFill>
            <a:prstDash val="solid"/>
          </a:ln>
        </p:spPr>
      </p:sp>
      <p:sp>
        <p:nvSpPr>
          <p:cNvPr id="6" name="Text 4"/>
          <p:cNvSpPr/>
          <p:nvPr/>
        </p:nvSpPr>
        <p:spPr>
          <a:xfrm>
            <a:off x="822960" y="1600200"/>
            <a:ext cx="10515600" cy="914400"/>
          </a:xfrm>
          <a:prstGeom prst="rect">
            <a:avLst/>
          </a:prstGeom>
          <a:noFill/>
          <a:ln/>
        </p:spPr>
        <p:txBody>
          <a:bodyPr wrap="square" lIns="0" tIns="0" rIns="0" bIns="0" rtlCol="0" anchor="ctr"/>
          <a:lstStyle/>
          <a:p>
            <a:pPr marL="0" indent="0" algn="l">
              <a:buNone/>
            </a:pPr>
            <a:r>
              <a:rPr lang="en-US" sz="1500" i="1" dirty="0">
                <a:solidFill>
                  <a:srgbClr val="1A1A1A"/>
                </a:solidFill>
                <a:latin typeface="Calibri" pitchFamily="34" charset="0"/>
                <a:ea typeface="Calibri" pitchFamily="34" charset="-122"/>
                <a:cs typeface="Calibri" pitchFamily="34" charset="-120"/>
              </a:rPr>
              <a:t>“New Study Reveals That Eating Chocolate While Listening To Mozart Makes You 45% Smarter...”</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880360"/>
          <a:ext cx="11064240" cy="2688336"/>
        </p:xfrm>
        <a:graphic>
          <a:graphicData uri="http://schemas.openxmlformats.org/drawingml/2006/table">
            <a:tbl>
              <a:tblPr/>
              <a:tblGrid>
                <a:gridCol w="640080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tblGrid>
              <a:tr h="384048">
                <a:tc>
                  <a:txBody>
                    <a:bodyPr/>
                    <a:lstStyle/>
                    <a:p>
                      <a:pPr marL="0" indent="0" algn="ctr">
                        <a:buNone/>
                      </a:pPr>
                      <a:r>
                        <a:rPr lang="en-US" sz="1300" b="1" dirty="0">
                          <a:solidFill>
                            <a:srgbClr val="1A1A1A"/>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tc>
                  <a:txBody>
                    <a:bodyPr/>
                    <a:lstStyle/>
                    <a:p>
                      <a:pPr marL="0" indent="0" algn="ctr">
                        <a:buNone/>
                      </a:pPr>
                      <a:r>
                        <a:rPr lang="en-US" sz="1300" b="1" dirty="0">
                          <a:solidFill>
                            <a:srgbClr val="1A1A1A"/>
                          </a:solidFill>
                          <a:latin typeface="Calibri" pitchFamily="34" charset="0"/>
                          <a:ea typeface="Calibri" pitchFamily="34" charset="-122"/>
                          <a:cs typeface="Calibri" pitchFamily="34" charset="-120"/>
                        </a:rPr>
                        <a:t>Prediction</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8E8E8"/>
                    </a:solidFill>
                  </a:tcPr>
                </a:tc>
                <a:extLst>
                  <a:ext uri="{0D108BD9-81ED-4DB2-BD59-A6C34878D82A}">
                    <a16:rowId xmlns:a16="http://schemas.microsoft.com/office/drawing/2014/main" val="10000"/>
                  </a:ext>
                </a:extLst>
              </a:tr>
              <a:tr h="384048">
                <a:tc>
                  <a:txBody>
                    <a:bodyPr/>
                    <a:lstStyle/>
                    <a:p>
                      <a:pPr marL="0" indent="0" algn="l">
                        <a:buNone/>
                      </a:pPr>
                      <a:r>
                        <a:rPr lang="en-US" sz="1300" dirty="0">
                          <a:solidFill>
                            <a:srgbClr val="1A1A1A"/>
                          </a:solidFill>
                          <a:latin typeface="Calibri" pitchFamily="34" charset="0"/>
                          <a:ea typeface="Calibri" pitchFamily="34" charset="-122"/>
                          <a:cs typeface="Calibri" pitchFamily="34" charset="-120"/>
                        </a:rPr>
                        <a:t>KNN</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E7A34"/>
                          </a:solidFill>
                          <a:latin typeface="Calibri" pitchFamily="34" charset="0"/>
                          <a:ea typeface="Calibri" pitchFamily="34" charset="-122"/>
                          <a:cs typeface="Calibri" pitchFamily="34" charset="-120"/>
                        </a:rPr>
                        <a:t>Fake (correct)</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300" dirty="0">
                          <a:solidFill>
                            <a:srgbClr val="1A1A1A"/>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E7A34"/>
                          </a:solidFill>
                          <a:latin typeface="Calibri" pitchFamily="34" charset="0"/>
                          <a:ea typeface="Calibri" pitchFamily="34" charset="-122"/>
                          <a:cs typeface="Calibri" pitchFamily="34" charset="-120"/>
                        </a:rPr>
                        <a:t>Fake (correct)</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lgn="l">
                        <a:buNone/>
                      </a:pPr>
                      <a:r>
                        <a:rPr lang="en-US" sz="1300" dirty="0">
                          <a:solidFill>
                            <a:srgbClr val="1A1A1A"/>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E7A34"/>
                          </a:solidFill>
                          <a:latin typeface="Calibri" pitchFamily="34" charset="0"/>
                          <a:ea typeface="Calibri" pitchFamily="34" charset="-122"/>
                          <a:cs typeface="Calibri" pitchFamily="34" charset="-120"/>
                        </a:rPr>
                        <a:t>Fake (correct)</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300" dirty="0">
                          <a:solidFill>
                            <a:srgbClr val="1A1A1A"/>
                          </a:solidFill>
                          <a:latin typeface="Calibri" pitchFamily="34" charset="0"/>
                          <a:ea typeface="Calibri" pitchFamily="34" charset="-122"/>
                          <a:cs typeface="Calibri" pitchFamily="34" charset="-120"/>
                        </a:rPr>
                        <a:t>Neural Network</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E7A34"/>
                          </a:solidFill>
                          <a:latin typeface="Calibri" pitchFamily="34" charset="0"/>
                          <a:ea typeface="Calibri" pitchFamily="34" charset="-122"/>
                          <a:cs typeface="Calibri" pitchFamily="34" charset="-120"/>
                        </a:rPr>
                        <a:t>Fake (correct)</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lgn="l">
                        <a:buNone/>
                      </a:pPr>
                      <a:r>
                        <a:rPr lang="en-US" sz="1300" dirty="0">
                          <a:solidFill>
                            <a:srgbClr val="1A1A1A"/>
                          </a:solidFill>
                          <a:latin typeface="Calibri" pitchFamily="34" charset="0"/>
                          <a:ea typeface="Calibri" pitchFamily="34" charset="-122"/>
                          <a:cs typeface="Calibri" pitchFamily="34" charset="-120"/>
                        </a:rPr>
                        <a:t>Logistic Regression (Enhanced)</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E7A34"/>
                          </a:solidFill>
                          <a:latin typeface="Calibri" pitchFamily="34" charset="0"/>
                          <a:ea typeface="Calibri" pitchFamily="34" charset="-122"/>
                          <a:cs typeface="Calibri" pitchFamily="34" charset="-120"/>
                        </a:rPr>
                        <a:t>Fake (correct)</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300" dirty="0">
                          <a:solidFill>
                            <a:srgbClr val="1A1A1A"/>
                          </a:solidFill>
                          <a:latin typeface="Calibri" pitchFamily="34" charset="0"/>
                          <a:ea typeface="Calibri" pitchFamily="34" charset="-122"/>
                          <a:cs typeface="Calibri" pitchFamily="34" charset="-120"/>
                        </a:rPr>
                        <a:t>Random Forest (Enhanced)</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AA3626"/>
                          </a:solidFill>
                          <a:latin typeface="Calibri" pitchFamily="34" charset="0"/>
                          <a:ea typeface="Calibri" pitchFamily="34" charset="-122"/>
                          <a:cs typeface="Calibri" pitchFamily="34" charset="-120"/>
                        </a:rPr>
                        <a:t>True (wrong)</a:t>
                      </a:r>
                      <a:endParaRPr lang="en-US" sz="13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8" name="Text 5"/>
          <p:cNvSpPr/>
          <p:nvPr/>
        </p:nvSpPr>
        <p:spPr>
          <a:xfrm>
            <a:off x="548640" y="5806440"/>
            <a:ext cx="11064240" cy="822960"/>
          </a:xfrm>
          <a:prstGeom prst="rect">
            <a:avLst/>
          </a:prstGeom>
          <a:noFill/>
          <a:ln/>
        </p:spPr>
        <p:txBody>
          <a:bodyPr wrap="square" lIns="0" tIns="0" rIns="0" bIns="0" rtlCol="0" anchor="ctr"/>
          <a:lstStyle/>
          <a:p>
            <a:r>
              <a:rPr lang="en-US" sz="1600" i="1" dirty="0">
                <a:latin typeface="Calibri" pitchFamily="34" charset="0"/>
                <a:ea typeface="Calibri" pitchFamily="34" charset="-122"/>
                <a:cs typeface="Calibri" pitchFamily="34" charset="-120"/>
              </a:rPr>
              <a:t>Only Random Forest (Enhanced) got it wrong. This snippet has zero exclamation marks and ordinary length, giving that model less to work with on the two features it relies on. </a:t>
            </a:r>
            <a:r>
              <a:rPr lang="en-US" sz="1600" dirty="0"/>
              <a:t>This qualitative example illustrates how different models respond to the same unseen article, but it should not be interpreted as statistical evidence.</a:t>
            </a:r>
          </a:p>
        </p:txBody>
      </p:sp>
      <p:sp>
        <p:nvSpPr>
          <p:cNvPr id="9" name="Text 6"/>
          <p:cNvSpPr/>
          <p:nvPr/>
        </p:nvSpPr>
        <p:spPr>
          <a:xfrm>
            <a:off x="11521440" y="6446520"/>
            <a:ext cx="457200" cy="274320"/>
          </a:xfrm>
          <a:prstGeom prst="rect">
            <a:avLst/>
          </a:prstGeom>
          <a:noFill/>
          <a:ln/>
        </p:spPr>
        <p:txBody>
          <a:bodyPr wrap="square" lIns="0" tIns="0" rIns="0" bIns="0" rtlCol="0" anchor="ctr"/>
          <a:lstStyle/>
          <a:p>
            <a:pPr marL="0" indent="0" algn="r">
              <a:buNone/>
            </a:pPr>
            <a:r>
              <a:rPr lang="en-US" sz="1000" dirty="0">
                <a:solidFill>
                  <a:srgbClr val="666666"/>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137160"/>
            <a:ext cx="11064240" cy="274320"/>
          </a:xfrm>
          <a:prstGeom prst="rect">
            <a:avLst/>
          </a:prstGeom>
          <a:noFill/>
          <a:ln/>
        </p:spPr>
        <p:txBody>
          <a:bodyPr wrap="square" lIns="0" tIns="0" rIns="0" bIns="0" rtlCol="0" anchor="ctr"/>
          <a:lstStyle/>
          <a:p>
            <a:pPr marL="0" indent="0" algn="l">
              <a:buNone/>
            </a:pPr>
            <a:r>
              <a:rPr lang="en-US" sz="1100" b="1" kern="0" spc="100" dirty="0">
                <a:solidFill>
                  <a:srgbClr val="666666"/>
                </a:solidFill>
                <a:latin typeface="Calibri" pitchFamily="34" charset="0"/>
                <a:ea typeface="Calibri" pitchFamily="34" charset="-122"/>
                <a:cs typeface="Calibri" pitchFamily="34" charset="-120"/>
              </a:rPr>
              <a:t>CONCLUSION</a:t>
            </a:r>
            <a:endParaRPr lang="en-US" sz="1100" dirty="0"/>
          </a:p>
        </p:txBody>
      </p:sp>
      <p:sp>
        <p:nvSpPr>
          <p:cNvPr id="3" name="Text 1"/>
          <p:cNvSpPr/>
          <p:nvPr/>
        </p:nvSpPr>
        <p:spPr>
          <a:xfrm>
            <a:off x="548640" y="365760"/>
            <a:ext cx="11064240" cy="731520"/>
          </a:xfrm>
          <a:prstGeom prst="rect">
            <a:avLst/>
          </a:prstGeom>
          <a:noFill/>
          <a:ln/>
        </p:spPr>
        <p:txBody>
          <a:bodyPr wrap="square" lIns="0" tIns="0" rIns="0" bIns="0" rtlCol="0" anchor="ctr"/>
          <a:lstStyle/>
          <a:p>
            <a:pPr marL="0" indent="0" algn="l">
              <a:buNone/>
            </a:pPr>
            <a:r>
              <a:rPr lang="en-US" sz="2800" b="1" dirty="0">
                <a:solidFill>
                  <a:srgbClr val="1E2A44"/>
                </a:solidFill>
                <a:latin typeface="Cambria" pitchFamily="34" charset="0"/>
                <a:ea typeface="Cambria" pitchFamily="34" charset="-122"/>
                <a:cs typeface="Cambria" pitchFamily="34" charset="-120"/>
              </a:rPr>
              <a:t>Summary, Limitations &amp; Future Scope</a:t>
            </a:r>
            <a:endParaRPr lang="en-US" sz="2800" dirty="0"/>
          </a:p>
        </p:txBody>
      </p:sp>
      <p:sp>
        <p:nvSpPr>
          <p:cNvPr id="4" name="Shape 2"/>
          <p:cNvSpPr/>
          <p:nvPr/>
        </p:nvSpPr>
        <p:spPr>
          <a:xfrm>
            <a:off x="548640" y="1143000"/>
            <a:ext cx="11064240" cy="0"/>
          </a:xfrm>
          <a:prstGeom prst="line">
            <a:avLst/>
          </a:prstGeom>
          <a:noFill/>
          <a:ln w="12700">
            <a:solidFill>
              <a:srgbClr val="CCCCCC"/>
            </a:solidFill>
            <a:prstDash val="solid"/>
          </a:ln>
        </p:spPr>
      </p:sp>
      <p:sp>
        <p:nvSpPr>
          <p:cNvPr id="5" name="Text 3"/>
          <p:cNvSpPr/>
          <p:nvPr/>
        </p:nvSpPr>
        <p:spPr>
          <a:xfrm>
            <a:off x="548640" y="2163277"/>
            <a:ext cx="5212080" cy="320040"/>
          </a:xfrm>
          <a:prstGeom prst="rect">
            <a:avLst/>
          </a:prstGeom>
          <a:noFill/>
          <a:ln/>
        </p:spPr>
        <p:txBody>
          <a:bodyPr wrap="square" lIns="0" tIns="0" rIns="0" bIns="0" rtlCol="0" anchor="ctr"/>
          <a:lstStyle/>
          <a:p>
            <a:pPr marL="0" indent="0">
              <a:buNone/>
            </a:pPr>
            <a:r>
              <a:rPr lang="en-US" sz="1600" b="1" dirty="0">
                <a:solidFill>
                  <a:srgbClr val="1E2A44"/>
                </a:solidFill>
                <a:latin typeface="Calibri" pitchFamily="34" charset="0"/>
                <a:ea typeface="Calibri" pitchFamily="34" charset="-122"/>
                <a:cs typeface="Calibri" pitchFamily="34" charset="-120"/>
              </a:rPr>
              <a:t>Key Takeaways</a:t>
            </a:r>
            <a:endParaRPr lang="en-US" sz="1600" dirty="0"/>
          </a:p>
        </p:txBody>
      </p:sp>
      <p:sp>
        <p:nvSpPr>
          <p:cNvPr id="6" name="Text 4"/>
          <p:cNvSpPr/>
          <p:nvPr/>
        </p:nvSpPr>
        <p:spPr>
          <a:xfrm>
            <a:off x="548640" y="2620477"/>
            <a:ext cx="5394960" cy="4114800"/>
          </a:xfrm>
          <a:prstGeom prst="rect">
            <a:avLst/>
          </a:prstGeom>
          <a:noFill/>
          <a:ln/>
        </p:spPr>
        <p:txBody>
          <a:bodyPr wrap="square" lIns="0" tIns="0" rIns="0" bIns="0" rtlCol="0" anchor="t"/>
          <a:lstStyle/>
          <a:p>
            <a:pPr marL="228600" indent="-228600" algn="l">
              <a:spcAft>
                <a:spcPts val="1000"/>
              </a:spcAft>
              <a:buSzPct val="100000"/>
              <a:buChar char="•"/>
            </a:pPr>
            <a:r>
              <a:rPr lang="en-US" sz="1600" b="1" dirty="0">
                <a:solidFill>
                  <a:srgbClr val="1E7A34"/>
                </a:solidFill>
                <a:latin typeface="Calibri" pitchFamily="34" charset="0"/>
                <a:ea typeface="Calibri" pitchFamily="34" charset="-122"/>
                <a:cs typeface="Calibri" pitchFamily="34" charset="-120"/>
              </a:rPr>
              <a:t>Logistic Regression led every comparison: highest accuracy, smallest train-test gap, and the only model whose coefficients can be inspected directly.</a:t>
            </a:r>
            <a:endParaRPr lang="en-US" sz="1600" dirty="0"/>
          </a:p>
          <a:p>
            <a:pPr marL="228600" indent="-228600">
              <a:spcAft>
                <a:spcPts val="1000"/>
              </a:spcAft>
              <a:buSzPct val="100000"/>
              <a:buChar char="•"/>
            </a:pPr>
            <a:r>
              <a:rPr lang="en-US" sz="1600" b="1" dirty="0">
                <a:solidFill>
                  <a:srgbClr val="1E7A34"/>
                </a:solidFill>
                <a:latin typeface="Calibri" pitchFamily="34" charset="0"/>
                <a:ea typeface="Calibri" pitchFamily="34" charset="-122"/>
                <a:cs typeface="Calibri" pitchFamily="34" charset="-120"/>
              </a:rPr>
              <a:t>Recommended Model: TF-IDF + Logistic Regression — selected over Bag-of-Words despite slightly lower accuracy because it shows a healthier train–test gap and is expected to generalize more reliably.</a:t>
            </a:r>
          </a:p>
          <a:p>
            <a:pPr marL="228600" indent="-228600">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Handcrafted features help Random Forest, not Logistic Regression, a direct test rather than an assumption.</a:t>
            </a:r>
            <a:endParaRPr lang="en-US" sz="1600" dirty="0"/>
          </a:p>
          <a:p>
            <a:pPr marL="228600" indent="-228600" algn="l">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Error mix favors false positives over false negatives, the safer direction for a filtering use case.</a:t>
            </a:r>
            <a:endParaRPr lang="en-US" sz="1600" dirty="0"/>
          </a:p>
        </p:txBody>
      </p:sp>
      <p:sp>
        <p:nvSpPr>
          <p:cNvPr id="7" name="Text 5"/>
          <p:cNvSpPr/>
          <p:nvPr/>
        </p:nvSpPr>
        <p:spPr>
          <a:xfrm>
            <a:off x="6309360" y="2163277"/>
            <a:ext cx="5303520" cy="320040"/>
          </a:xfrm>
          <a:prstGeom prst="rect">
            <a:avLst/>
          </a:prstGeom>
          <a:noFill/>
          <a:ln/>
        </p:spPr>
        <p:txBody>
          <a:bodyPr wrap="square" lIns="0" tIns="0" rIns="0" bIns="0" rtlCol="0" anchor="ctr"/>
          <a:lstStyle/>
          <a:p>
            <a:pPr marL="0" indent="0">
              <a:buNone/>
            </a:pPr>
            <a:r>
              <a:rPr lang="en-US" sz="1600" b="1" dirty="0">
                <a:solidFill>
                  <a:srgbClr val="1E2A44"/>
                </a:solidFill>
                <a:latin typeface="Calibri" pitchFamily="34" charset="0"/>
                <a:ea typeface="Calibri" pitchFamily="34" charset="-122"/>
                <a:cs typeface="Calibri" pitchFamily="34" charset="-120"/>
              </a:rPr>
              <a:t>Limitations &amp; Next Steps</a:t>
            </a:r>
            <a:endParaRPr lang="en-US" sz="1600" dirty="0"/>
          </a:p>
        </p:txBody>
      </p:sp>
      <p:sp>
        <p:nvSpPr>
          <p:cNvPr id="8" name="Text 6"/>
          <p:cNvSpPr/>
          <p:nvPr/>
        </p:nvSpPr>
        <p:spPr>
          <a:xfrm>
            <a:off x="6309360" y="2620477"/>
            <a:ext cx="5303520" cy="4114800"/>
          </a:xfrm>
          <a:prstGeom prst="rect">
            <a:avLst/>
          </a:prstGeom>
          <a:noFill/>
          <a:ln/>
        </p:spPr>
        <p:txBody>
          <a:bodyPr wrap="square" lIns="0" tIns="0" rIns="0" bIns="0" rtlCol="0" anchor="t"/>
          <a:lstStyle/>
          <a:p>
            <a:pPr marL="228600" indent="-228600" algn="l">
              <a:spcAft>
                <a:spcPts val="1000"/>
              </a:spcAft>
              <a:buSzPct val="100000"/>
              <a:buChar char="•"/>
            </a:pPr>
            <a:r>
              <a:rPr lang="en-US" sz="1600" dirty="0">
                <a:solidFill>
                  <a:srgbClr val="AA3626"/>
                </a:solidFill>
                <a:latin typeface="Calibri" pitchFamily="34" charset="0"/>
                <a:ea typeface="Calibri" pitchFamily="34" charset="-122"/>
                <a:cs typeface="Calibri" pitchFamily="34" charset="-120"/>
              </a:rPr>
              <a:t>English-only, binary classification. TF-IDF and BoW ignore word order entirely.</a:t>
            </a:r>
            <a:endParaRPr lang="en-US" sz="1600" dirty="0"/>
          </a:p>
          <a:p>
            <a:pPr marL="228600" indent="-228600" algn="l">
              <a:spcAft>
                <a:spcPts val="1000"/>
              </a:spcAft>
              <a:buSzPct val="100000"/>
              <a:buChar char="•"/>
            </a:pPr>
            <a:r>
              <a:rPr lang="en-US" sz="1600" dirty="0">
                <a:solidFill>
                  <a:srgbClr val="AA3626"/>
                </a:solidFill>
                <a:latin typeface="Calibri" pitchFamily="34" charset="0"/>
                <a:ea typeface="Calibri" pitchFamily="34" charset="-122"/>
                <a:cs typeface="Calibri" pitchFamily="34" charset="-120"/>
              </a:rPr>
              <a:t>Word2Vec vectors are static, not contextual.</a:t>
            </a:r>
            <a:endParaRPr lang="en-US" sz="1600" dirty="0"/>
          </a:p>
          <a:p>
            <a:pPr marL="228600" indent="-228600" algn="l">
              <a:spcAft>
                <a:spcPts val="1000"/>
              </a:spcAft>
              <a:buSzPct val="100000"/>
              <a:buChar char="•"/>
            </a:pPr>
            <a:r>
              <a:rPr lang="en-US" sz="1600" dirty="0">
                <a:solidFill>
                  <a:srgbClr val="AA3626"/>
                </a:solidFill>
                <a:latin typeface="Calibri" pitchFamily="34" charset="0"/>
                <a:ea typeface="Calibri" pitchFamily="34" charset="-122"/>
                <a:cs typeface="Calibri" pitchFamily="34" charset="-120"/>
              </a:rPr>
              <a:t>True articles are all Reuters-sourced, part of the model's strongest signal is a source artifact, not a truthfulness signal.</a:t>
            </a:r>
            <a:endParaRPr lang="en-US" sz="1600" dirty="0"/>
          </a:p>
          <a:p>
            <a:pPr marL="228600" indent="-228600" algn="l">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Next: contextual embeddings (BERT/DistilBERT), SHAP/LIME explainability, multi-outlet sourcing to reduce the Reuters artifact.</a:t>
            </a:r>
            <a:endParaRPr lang="en-US" sz="1600" dirty="0"/>
          </a:p>
        </p:txBody>
      </p:sp>
      <p:sp>
        <p:nvSpPr>
          <p:cNvPr id="9" name="Text 7"/>
          <p:cNvSpPr/>
          <p:nvPr/>
        </p:nvSpPr>
        <p:spPr>
          <a:xfrm>
            <a:off x="11521440" y="6446520"/>
            <a:ext cx="457200" cy="274320"/>
          </a:xfrm>
          <a:prstGeom prst="rect">
            <a:avLst/>
          </a:prstGeom>
          <a:noFill/>
          <a:ln/>
        </p:spPr>
        <p:txBody>
          <a:bodyPr wrap="square" lIns="0" tIns="0" rIns="0" bIns="0" rtlCol="0" anchor="ctr"/>
          <a:lstStyle/>
          <a:p>
            <a:pPr marL="0" indent="0" algn="r">
              <a:buNone/>
            </a:pPr>
            <a:r>
              <a:rPr lang="en-US" sz="1000" dirty="0">
                <a:solidFill>
                  <a:srgbClr val="666666"/>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37</TotalTime>
  <Words>1701</Words>
  <Application>Microsoft Office PowerPoint</Application>
  <PresentationFormat>Custom</PresentationFormat>
  <Paragraphs>288</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samay talwar</cp:lastModifiedBy>
  <cp:revision>12</cp:revision>
  <dcterms:created xsi:type="dcterms:W3CDTF">2026-07-29T18:09:00Z</dcterms:created>
  <dcterms:modified xsi:type="dcterms:W3CDTF">2026-07-30T06:21:29Z</dcterms:modified>
</cp:coreProperties>
</file>