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2194560"/>
            <a:ext cx="10515600" cy="1463040"/>
          </a:xfrm>
          <a:prstGeom prst="rect">
            <a:avLst/>
          </a:prstGeom>
          <a:noFill/>
          <a:ln/>
        </p:spPr>
        <p:txBody>
          <a:bodyPr wrap="square" lIns="0" tIns="0" rIns="0" bIns="0" rtlCol="0" anchor="ctr"/>
          <a:lstStyle/>
          <a:p>
            <a:pPr algn="l" indent="0" marL="0">
              <a:lnSpc>
                <a:spcPts val="4000"/>
              </a:lnSpc>
              <a:buNone/>
            </a:pPr>
            <a:r>
              <a:rPr lang="en-US" sz="3400" b="1" dirty="0">
                <a:solidFill>
                  <a:srgbClr val="1E2A44"/>
                </a:solidFill>
                <a:latin typeface="Cambria" pitchFamily="34" charset="0"/>
                <a:ea typeface="Cambria" pitchFamily="34" charset="-122"/>
                <a:cs typeface="Cambria" pitchFamily="34" charset="-120"/>
              </a:rPr>
              <a:t>Fake News Detection Using</a:t>
            </a:r>
            <a:endParaRPr lang="en-US" sz="3400" dirty="0"/>
          </a:p>
          <a:p>
            <a:pPr algn="l" indent="0" marL="0">
              <a:lnSpc>
                <a:spcPts val="4000"/>
              </a:lnSpc>
              <a:buNone/>
            </a:pPr>
            <a:r>
              <a:rPr lang="en-US" sz="3400" b="1" dirty="0">
                <a:solidFill>
                  <a:srgbClr val="1E2A44"/>
                </a:solidFill>
                <a:latin typeface="Cambria" pitchFamily="34" charset="0"/>
                <a:ea typeface="Cambria" pitchFamily="34" charset="-122"/>
                <a:cs typeface="Cambria" pitchFamily="34" charset="-120"/>
              </a:rPr>
              <a:t>Natural Language Processing</a:t>
            </a:r>
            <a:endParaRPr lang="en-US" sz="3400" dirty="0"/>
          </a:p>
        </p:txBody>
      </p:sp>
      <p:sp>
        <p:nvSpPr>
          <p:cNvPr id="3" name="Text 1"/>
          <p:cNvSpPr/>
          <p:nvPr/>
        </p:nvSpPr>
        <p:spPr>
          <a:xfrm>
            <a:off x="822960" y="3611880"/>
            <a:ext cx="10515600" cy="457200"/>
          </a:xfrm>
          <a:prstGeom prst="rect">
            <a:avLst/>
          </a:prstGeom>
          <a:noFill/>
          <a:ln/>
        </p:spPr>
        <p:txBody>
          <a:bodyPr wrap="square" lIns="0" tIns="0" rIns="0" bIns="0" rtlCol="0" anchor="ctr"/>
          <a:lstStyle/>
          <a:p>
            <a:pPr algn="l" indent="0" marL="0">
              <a:buNone/>
            </a:pPr>
            <a:r>
              <a:rPr lang="en-US" sz="1700" i="1" dirty="0">
                <a:solidFill>
                  <a:srgbClr val="666666"/>
                </a:solidFill>
                <a:latin typeface="Calibri" pitchFamily="34" charset="0"/>
                <a:ea typeface="Calibri" pitchFamily="34" charset="-122"/>
                <a:cs typeface="Calibri" pitchFamily="34" charset="-120"/>
              </a:rPr>
              <a:t>A Comparative Study of Text Representations and Classification Models</a:t>
            </a:r>
            <a:endParaRPr lang="en-US" sz="1700" dirty="0"/>
          </a:p>
        </p:txBody>
      </p:sp>
      <p:sp>
        <p:nvSpPr>
          <p:cNvPr id="4" name="Shape 2"/>
          <p:cNvSpPr/>
          <p:nvPr/>
        </p:nvSpPr>
        <p:spPr>
          <a:xfrm>
            <a:off x="548640" y="4297680"/>
            <a:ext cx="11064240" cy="0"/>
          </a:xfrm>
          <a:prstGeom prst="line">
            <a:avLst/>
          </a:prstGeom>
          <a:noFill/>
          <a:ln w="12700">
            <a:solidFill>
              <a:srgbClr val="CCCCCC"/>
            </a:solidFill>
            <a:prstDash val="solid"/>
          </a:ln>
        </p:spPr>
      </p:sp>
      <p:sp>
        <p:nvSpPr>
          <p:cNvPr id="5" name="Text 3"/>
          <p:cNvSpPr/>
          <p:nvPr/>
        </p:nvSpPr>
        <p:spPr>
          <a:xfrm>
            <a:off x="822960" y="4434840"/>
            <a:ext cx="10515600" cy="320040"/>
          </a:xfrm>
          <a:prstGeom prst="rect">
            <a:avLst/>
          </a:prstGeom>
          <a:noFill/>
          <a:ln/>
        </p:spPr>
        <p:txBody>
          <a:bodyPr wrap="square" lIns="0" tIns="0" rIns="0" bIns="0" rtlCol="0" anchor="ctr"/>
          <a:lstStyle/>
          <a:p>
            <a:pPr algn="l" indent="0" marL="0">
              <a:buNone/>
            </a:pPr>
            <a:r>
              <a:rPr lang="en-US" sz="1300" dirty="0">
                <a:solidFill>
                  <a:srgbClr val="1A1A1A"/>
                </a:solidFill>
                <a:latin typeface="Calibri" pitchFamily="34" charset="0"/>
                <a:ea typeface="Calibri" pitchFamily="34" charset="-122"/>
                <a:cs typeface="Calibri" pitchFamily="34" charset="-120"/>
              </a:rPr>
              <a:t>Summer Internship Program in AI &amp; ML, 2026</a:t>
            </a:r>
            <a:endParaRPr lang="en-US" sz="1300" dirty="0"/>
          </a:p>
        </p:txBody>
      </p:sp>
      <p:sp>
        <p:nvSpPr>
          <p:cNvPr id="6" name="Text 4"/>
          <p:cNvSpPr/>
          <p:nvPr/>
        </p:nvSpPr>
        <p:spPr>
          <a:xfrm>
            <a:off x="822960" y="4754880"/>
            <a:ext cx="10515600" cy="320040"/>
          </a:xfrm>
          <a:prstGeom prst="rect">
            <a:avLst/>
          </a:prstGeom>
          <a:noFill/>
          <a:ln/>
        </p:spPr>
        <p:txBody>
          <a:bodyPr wrap="square" lIns="0" tIns="0" rIns="0" bIns="0" rtlCol="0" anchor="ctr"/>
          <a:lstStyle/>
          <a:p>
            <a:pPr algn="l" indent="0" marL="0">
              <a:buNone/>
            </a:pPr>
            <a:r>
              <a:rPr lang="en-US" sz="1300" dirty="0">
                <a:solidFill>
                  <a:srgbClr val="666666"/>
                </a:solidFill>
                <a:latin typeface="Calibri" pitchFamily="34" charset="0"/>
                <a:ea typeface="Calibri" pitchFamily="34" charset="-122"/>
                <a:cs typeface="Calibri" pitchFamily="34" charset="-120"/>
              </a:rPr>
              <a:t>Indian Institute of Computing and Technology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11064240" cy="274320"/>
          </a:xfrm>
          <a:prstGeom prst="rect">
            <a:avLst/>
          </a:prstGeom>
          <a:noFill/>
          <a:ln/>
        </p:spPr>
        <p:txBody>
          <a:bodyPr wrap="square" lIns="0" tIns="0" rIns="0" bIns="0" rtlCol="0" anchor="ctr"/>
          <a:lstStyle/>
          <a:p>
            <a:pPr algn="l" indent="0" marL="0">
              <a:buNone/>
            </a:pPr>
            <a:r>
              <a:rPr lang="en-US" sz="1100" b="1" spc="100" kern="0" dirty="0">
                <a:solidFill>
                  <a:srgbClr val="666666"/>
                </a:solidFill>
                <a:latin typeface="Calibri" pitchFamily="34" charset="0"/>
                <a:ea typeface="Calibri" pitchFamily="34" charset="-122"/>
                <a:cs typeface="Calibri" pitchFamily="34" charset="-120"/>
              </a:rPr>
              <a:t>INTRODUCTION</a:t>
            </a:r>
            <a:endParaRPr lang="en-US" sz="1100" dirty="0"/>
          </a:p>
        </p:txBody>
      </p:sp>
      <p:sp>
        <p:nvSpPr>
          <p:cNvPr id="3" name="Text 1"/>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rgbClr val="1E2A44"/>
                </a:solidFill>
                <a:latin typeface="Cambria" pitchFamily="34" charset="0"/>
                <a:ea typeface="Cambria" pitchFamily="34" charset="-122"/>
                <a:cs typeface="Cambria" pitchFamily="34" charset="-120"/>
              </a:rPr>
              <a:t>Problem Statement &amp; Objectives</a:t>
            </a:r>
            <a:endParaRPr lang="en-US" sz="2800" dirty="0"/>
          </a:p>
        </p:txBody>
      </p:sp>
      <p:sp>
        <p:nvSpPr>
          <p:cNvPr id="4" name="Shape 2"/>
          <p:cNvSpPr/>
          <p:nvPr/>
        </p:nvSpPr>
        <p:spPr>
          <a:xfrm>
            <a:off x="548640" y="1143000"/>
            <a:ext cx="11064240" cy="0"/>
          </a:xfrm>
          <a:prstGeom prst="line">
            <a:avLst/>
          </a:prstGeom>
          <a:noFill/>
          <a:ln w="12700">
            <a:solidFill>
              <a:srgbClr val="CCCCCC"/>
            </a:solidFill>
            <a:prstDash val="solid"/>
          </a:ln>
        </p:spPr>
      </p:sp>
      <p:sp>
        <p:nvSpPr>
          <p:cNvPr id="5" name="Text 3"/>
          <p:cNvSpPr/>
          <p:nvPr/>
        </p:nvSpPr>
        <p:spPr>
          <a:xfrm>
            <a:off x="548640" y="1417320"/>
            <a:ext cx="5212080" cy="365760"/>
          </a:xfrm>
          <a:prstGeom prst="rect">
            <a:avLst/>
          </a:prstGeom>
          <a:noFill/>
          <a:ln/>
        </p:spPr>
        <p:txBody>
          <a:bodyPr wrap="square" lIns="0" tIns="0" rIns="0" bIns="0" rtlCol="0" anchor="ctr"/>
          <a:lstStyle/>
          <a:p>
            <a:pPr indent="0" marL="0">
              <a:buNone/>
            </a:pPr>
            <a:r>
              <a:rPr lang="en-US" sz="1500" b="1" dirty="0">
                <a:solidFill>
                  <a:srgbClr val="1E2A44"/>
                </a:solidFill>
                <a:latin typeface="Calibri" pitchFamily="34" charset="0"/>
                <a:ea typeface="Calibri" pitchFamily="34" charset="-122"/>
                <a:cs typeface="Calibri" pitchFamily="34" charset="-120"/>
              </a:rPr>
              <a:t>The Problem</a:t>
            </a:r>
            <a:endParaRPr lang="en-US" sz="1500" dirty="0"/>
          </a:p>
        </p:txBody>
      </p:sp>
      <p:sp>
        <p:nvSpPr>
          <p:cNvPr id="6" name="Text 4"/>
          <p:cNvSpPr/>
          <p:nvPr/>
        </p:nvSpPr>
        <p:spPr>
          <a:xfrm>
            <a:off x="548640" y="1828800"/>
            <a:ext cx="5212080" cy="4389120"/>
          </a:xfrm>
          <a:prstGeom prst="rect">
            <a:avLst/>
          </a:prstGeom>
          <a:noFill/>
          <a:ln/>
        </p:spPr>
        <p:txBody>
          <a:bodyPr wrap="square" lIns="0" tIns="0" rIns="0" bIns="0" rtlCol="0" anchor="t"/>
          <a:lstStyle/>
          <a:p>
            <a:pPr algn="l"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Misinformation spreads fast through digital platforms, and telling fake from real news requires more than keyword matching.</a:t>
            </a:r>
            <a:endParaRPr lang="en-US" sz="1400" dirty="0"/>
          </a:p>
          <a:p>
            <a:pPr algn="l"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This project builds a full pipeline, raw CSV files to compared, trained classifiers, without relying on a single pre-built shortcut.</a:t>
            </a:r>
            <a:endParaRPr lang="en-US" sz="1400" dirty="0"/>
          </a:p>
          <a:p>
            <a:pPr algn="l"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Every preprocessing decision is checked against the data rather than assumed correct because it's common practice.</a:t>
            </a:r>
            <a:endParaRPr lang="en-US" sz="1400" dirty="0"/>
          </a:p>
        </p:txBody>
      </p:sp>
      <p:sp>
        <p:nvSpPr>
          <p:cNvPr id="7" name="Text 5"/>
          <p:cNvSpPr/>
          <p:nvPr/>
        </p:nvSpPr>
        <p:spPr>
          <a:xfrm>
            <a:off x="6309360" y="1417320"/>
            <a:ext cx="5303520" cy="365760"/>
          </a:xfrm>
          <a:prstGeom prst="rect">
            <a:avLst/>
          </a:prstGeom>
          <a:noFill/>
          <a:ln/>
        </p:spPr>
        <p:txBody>
          <a:bodyPr wrap="square" lIns="0" tIns="0" rIns="0" bIns="0" rtlCol="0" anchor="ctr"/>
          <a:lstStyle/>
          <a:p>
            <a:pPr indent="0" marL="0">
              <a:buNone/>
            </a:pPr>
            <a:r>
              <a:rPr lang="en-US" sz="1500" b="1" dirty="0">
                <a:solidFill>
                  <a:srgbClr val="1E2A44"/>
                </a:solidFill>
                <a:latin typeface="Calibri" pitchFamily="34" charset="0"/>
                <a:ea typeface="Calibri" pitchFamily="34" charset="-122"/>
                <a:cs typeface="Calibri" pitchFamily="34" charset="-120"/>
              </a:rPr>
              <a:t>Objectives</a:t>
            </a:r>
            <a:endParaRPr lang="en-US" sz="1500" dirty="0"/>
          </a:p>
        </p:txBody>
      </p:sp>
      <p:sp>
        <p:nvSpPr>
          <p:cNvPr id="8" name="Text 6"/>
          <p:cNvSpPr/>
          <p:nvPr/>
        </p:nvSpPr>
        <p:spPr>
          <a:xfrm>
            <a:off x="6309360" y="1828800"/>
            <a:ext cx="5303520" cy="4389120"/>
          </a:xfrm>
          <a:prstGeom prst="rect">
            <a:avLst/>
          </a:prstGeom>
          <a:noFill/>
          <a:ln/>
        </p:spPr>
        <p:txBody>
          <a:bodyPr wrap="square" lIns="0" tIns="0" rIns="0" bIns="0" rtlCol="0" anchor="t"/>
          <a:lstStyle/>
          <a:p>
            <a:pPr algn="l"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Build a complete NLP pipeline for fake news classification</a:t>
            </a:r>
            <a:endParaRPr lang="en-US" sz="1400" dirty="0"/>
          </a:p>
          <a:p>
            <a:pPr algn="l"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Compare Bag-of-Words, TF-IDF, and Word2Vec under identical conditions</a:t>
            </a:r>
            <a:endParaRPr lang="en-US" sz="1400" dirty="0"/>
          </a:p>
          <a:p>
            <a:pPr algn="l"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Evaluate four classifiers side by side: KNN, Logistic Regression, Random Forest, Neural Network</a:t>
            </a:r>
            <a:endParaRPr lang="en-US" sz="1400" dirty="0"/>
          </a:p>
          <a:p>
            <a:pPr algn="l"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Test whether handcrafted features actually improve results, rather than assuming they do</a:t>
            </a:r>
            <a:endParaRPr lang="en-US" sz="1400" dirty="0"/>
          </a:p>
          <a:p>
            <a:pPr algn="l"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Inspect which words a model relies on, not just its accuracy</a:t>
            </a:r>
            <a:endParaRPr lang="en-US" sz="1400" dirty="0"/>
          </a:p>
        </p:txBody>
      </p:sp>
      <p:sp>
        <p:nvSpPr>
          <p:cNvPr id="9" name="Text 7"/>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11064240" cy="274320"/>
          </a:xfrm>
          <a:prstGeom prst="rect">
            <a:avLst/>
          </a:prstGeom>
          <a:noFill/>
          <a:ln/>
        </p:spPr>
        <p:txBody>
          <a:bodyPr wrap="square" lIns="0" tIns="0" rIns="0" bIns="0" rtlCol="0" anchor="ctr"/>
          <a:lstStyle/>
          <a:p>
            <a:pPr algn="l" indent="0" marL="0">
              <a:buNone/>
            </a:pPr>
            <a:r>
              <a:rPr lang="en-US" sz="1100" b="1" spc="100" kern="0" dirty="0">
                <a:solidFill>
                  <a:srgbClr val="666666"/>
                </a:solidFill>
                <a:latin typeface="Calibri" pitchFamily="34" charset="0"/>
                <a:ea typeface="Calibri" pitchFamily="34" charset="-122"/>
                <a:cs typeface="Calibri" pitchFamily="34" charset="-120"/>
              </a:rPr>
              <a:t>DATASET</a:t>
            </a:r>
            <a:endParaRPr lang="en-US" sz="1100" dirty="0"/>
          </a:p>
        </p:txBody>
      </p:sp>
      <p:sp>
        <p:nvSpPr>
          <p:cNvPr id="3" name="Text 1"/>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rgbClr val="1E2A44"/>
                </a:solidFill>
                <a:latin typeface="Cambria" pitchFamily="34" charset="0"/>
                <a:ea typeface="Cambria" pitchFamily="34" charset="-122"/>
                <a:cs typeface="Cambria" pitchFamily="34" charset="-120"/>
              </a:rPr>
              <a:t>Dataset Overview</a:t>
            </a:r>
            <a:endParaRPr lang="en-US" sz="2800" dirty="0"/>
          </a:p>
        </p:txBody>
      </p:sp>
      <p:sp>
        <p:nvSpPr>
          <p:cNvPr id="4" name="Shape 2"/>
          <p:cNvSpPr/>
          <p:nvPr/>
        </p:nvSpPr>
        <p:spPr>
          <a:xfrm>
            <a:off x="548640" y="1143000"/>
            <a:ext cx="11064240" cy="0"/>
          </a:xfrm>
          <a:prstGeom prst="line">
            <a:avLst/>
          </a:prstGeom>
          <a:noFill/>
          <a:ln w="12700">
            <a:solidFill>
              <a:srgbClr val="CCCCCC"/>
            </a:solidFill>
            <a:prstDash val="solid"/>
          </a:ln>
        </p:spPr>
      </p:sp>
      <p:sp>
        <p:nvSpPr>
          <p:cNvPr id="5" name="Text 3"/>
          <p:cNvSpPr/>
          <p:nvPr/>
        </p:nvSpPr>
        <p:spPr>
          <a:xfrm>
            <a:off x="548640" y="1554480"/>
            <a:ext cx="6035040" cy="4572000"/>
          </a:xfrm>
          <a:prstGeom prst="rect">
            <a:avLst/>
          </a:prstGeom>
          <a:noFill/>
          <a:ln/>
        </p:spPr>
        <p:txBody>
          <a:bodyPr wrap="square" lIns="0" tIns="0" rIns="0" bIns="0" rtlCol="0" anchor="t"/>
          <a:lstStyle/>
          <a:p>
            <a:pPr algn="l"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Kaggle Fake and Real News dataset, two CSV files: Fake.csv and True.csv</a:t>
            </a:r>
            <a:endParaRPr lang="en-US" sz="1500" dirty="0"/>
          </a:p>
          <a:p>
            <a:pPr algn="l" marL="228600" indent="-228600">
              <a:spcAft>
                <a:spcPts val="1000"/>
              </a:spcAft>
              <a:buSzPct val="100000"/>
              <a:buChar char="•"/>
            </a:pPr>
            <a:r>
              <a:rPr lang="en-US" sz="1500" b="1" dirty="0">
                <a:solidFill>
                  <a:srgbClr val="1E2A44"/>
                </a:solidFill>
                <a:latin typeface="Calibri" pitchFamily="34" charset="0"/>
                <a:ea typeface="Calibri" pitchFamily="34" charset="-122"/>
                <a:cs typeface="Calibri" pitchFamily="34" charset="-120"/>
              </a:rPr>
              <a:t>23,481 Fake articles  +  21,417 True articles  =  44,898 total</a:t>
            </a:r>
            <a:endParaRPr lang="en-US" sz="1500" dirty="0"/>
          </a:p>
          <a:p>
            <a:pPr algn="l"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row: title, article text, subject tag, publication date</a:t>
            </a:r>
            <a:endParaRPr lang="en-US" sz="1500" dirty="0"/>
          </a:p>
          <a:p>
            <a:pPr algn="l"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Merged, labeled (0 = Fake, 1 = True), and shuffled with a fixed seed</a:t>
            </a:r>
            <a:endParaRPr lang="en-US" sz="1500" dirty="0"/>
          </a:p>
          <a:p>
            <a:pPr algn="l" marL="228600" indent="-228600">
              <a:spcAft>
                <a:spcPts val="400"/>
              </a:spcAft>
              <a:buSzPct val="100000"/>
              <a:buChar char="•"/>
            </a:pPr>
            <a:r>
              <a:rPr lang="en-US" sz="1500" dirty="0">
                <a:solidFill>
                  <a:srgbClr val="1A1A1A"/>
                </a:solidFill>
                <a:latin typeface="Calibri" pitchFamily="34" charset="0"/>
                <a:ea typeface="Calibri" pitchFamily="34" charset="-122"/>
                <a:cs typeface="Calibri" pitchFamily="34" charset="-120"/>
              </a:rPr>
              <a:t>Roughly 52% / 48% split, close enough to balanced, no resampling needed</a:t>
            </a:r>
            <a:endParaRPr lang="en-US" sz="1500" dirty="0"/>
          </a:p>
        </p:txBody>
      </p:sp>
      <p:pic>
        <p:nvPicPr>
          <p:cNvPr id="6" name="Image 0" descr="/home/claude/ppt/images/label_distribution.png">    </p:cNvPr>
          <p:cNvPicPr>
            <a:picLocks noChangeAspect="1"/>
          </p:cNvPicPr>
          <p:nvPr/>
        </p:nvPicPr>
        <p:blipFill>
          <a:blip r:embed="rId1"/>
          <a:stretch>
            <a:fillRect/>
          </a:stretch>
        </p:blipFill>
        <p:spPr>
          <a:xfrm>
            <a:off x="6949440" y="1554480"/>
            <a:ext cx="4389120" cy="3593592"/>
          </a:xfrm>
          <a:prstGeom prst="rect">
            <a:avLst/>
          </a:prstGeom>
        </p:spPr>
      </p:pic>
      <p:sp>
        <p:nvSpPr>
          <p:cNvPr id="7" name="Text 4"/>
          <p:cNvSpPr/>
          <p:nvPr/>
        </p:nvSpPr>
        <p:spPr>
          <a:xfrm>
            <a:off x="6949440" y="5257800"/>
            <a:ext cx="4389120" cy="274320"/>
          </a:xfrm>
          <a:prstGeom prst="rect">
            <a:avLst/>
          </a:prstGeom>
          <a:noFill/>
          <a:ln/>
        </p:spPr>
        <p:txBody>
          <a:bodyPr wrap="square" lIns="0" tIns="0" rIns="0" bIns="0" rtlCol="0" anchor="ctr"/>
          <a:lstStyle/>
          <a:p>
            <a:pPr algn="ctr" indent="0" marL="0">
              <a:buNone/>
            </a:pPr>
            <a:r>
              <a:rPr lang="en-US" sz="1100" i="1" dirty="0">
                <a:solidFill>
                  <a:srgbClr val="666666"/>
                </a:solidFill>
                <a:latin typeface="Calibri" pitchFamily="34" charset="0"/>
                <a:ea typeface="Calibri" pitchFamily="34" charset="-122"/>
                <a:cs typeface="Calibri" pitchFamily="34" charset="-120"/>
              </a:rPr>
              <a:t>Fig. Class distribution of the merged dataset</a:t>
            </a:r>
            <a:endParaRPr lang="en-US" sz="1100" dirty="0"/>
          </a:p>
        </p:txBody>
      </p:sp>
      <p:sp>
        <p:nvSpPr>
          <p:cNvPr id="8" name="Text 5"/>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11064240" cy="274320"/>
          </a:xfrm>
          <a:prstGeom prst="rect">
            <a:avLst/>
          </a:prstGeom>
          <a:noFill/>
          <a:ln/>
        </p:spPr>
        <p:txBody>
          <a:bodyPr wrap="square" lIns="0" tIns="0" rIns="0" bIns="0" rtlCol="0" anchor="ctr"/>
          <a:lstStyle/>
          <a:p>
            <a:pPr algn="l" indent="0" marL="0">
              <a:buNone/>
            </a:pPr>
            <a:r>
              <a:rPr lang="en-US" sz="1100" b="1" spc="100" kern="0" dirty="0">
                <a:solidFill>
                  <a:srgbClr val="666666"/>
                </a:solidFill>
                <a:latin typeface="Calibri" pitchFamily="34" charset="0"/>
                <a:ea typeface="Calibri" pitchFamily="34" charset="-122"/>
                <a:cs typeface="Calibri" pitchFamily="34" charset="-120"/>
              </a:rPr>
              <a:t>DATASET</a:t>
            </a:r>
            <a:endParaRPr lang="en-US" sz="1100" dirty="0"/>
          </a:p>
        </p:txBody>
      </p:sp>
      <p:sp>
        <p:nvSpPr>
          <p:cNvPr id="3" name="Text 1"/>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rgbClr val="1E2A44"/>
                </a:solidFill>
                <a:latin typeface="Cambria" pitchFamily="34" charset="0"/>
                <a:ea typeface="Cambria" pitchFamily="34" charset="-122"/>
                <a:cs typeface="Cambria" pitchFamily="34" charset="-120"/>
              </a:rPr>
              <a:t>Key Findings Before Any Modeling</a:t>
            </a:r>
            <a:endParaRPr lang="en-US" sz="2800" dirty="0"/>
          </a:p>
        </p:txBody>
      </p:sp>
      <p:sp>
        <p:nvSpPr>
          <p:cNvPr id="4" name="Shape 2"/>
          <p:cNvSpPr/>
          <p:nvPr/>
        </p:nvSpPr>
        <p:spPr>
          <a:xfrm>
            <a:off x="548640" y="1143000"/>
            <a:ext cx="11064240" cy="0"/>
          </a:xfrm>
          <a:prstGeom prst="line">
            <a:avLst/>
          </a:prstGeom>
          <a:noFill/>
          <a:ln w="12700">
            <a:solidFill>
              <a:srgbClr val="CCCCCC"/>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377440"/>
                <a:gridCol w="5943600"/>
                <a:gridCol w="2743200"/>
              </a:tblGrid>
              <a:tr h="621792">
                <a:tc>
                  <a:txBody>
                    <a:bodyPr/>
                    <a:lstStyle/>
                    <a:p>
                      <a:pPr algn="ctr" indent="0" marL="0">
                        <a:buNone/>
                      </a:pPr>
                      <a:r>
                        <a:rPr lang="en-US" sz="1300" b="1" dirty="0">
                          <a:solidFill>
                            <a:srgbClr val="1A1A1A"/>
                          </a:solidFill>
                          <a:latin typeface="Calibri" pitchFamily="34" charset="0"/>
                          <a:ea typeface="Calibri" pitchFamily="34" charset="-122"/>
                          <a:cs typeface="Calibri" pitchFamily="34" charset="-120"/>
                        </a:rPr>
                        <a:t>Observation</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300" b="1" dirty="0">
                          <a:solidFill>
                            <a:srgbClr val="1A1A1A"/>
                          </a:solidFill>
                          <a:latin typeface="Calibri" pitchFamily="34" charset="0"/>
                          <a:ea typeface="Calibri" pitchFamily="34" charset="-122"/>
                          <a:cs typeface="Calibri" pitchFamily="34" charset="-120"/>
                        </a:rPr>
                        <a:t>Finding</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300" b="1" dirty="0">
                          <a:solidFill>
                            <a:srgbClr val="1A1A1A"/>
                          </a:solidFill>
                          <a:latin typeface="Calibri" pitchFamily="34" charset="0"/>
                          <a:ea typeface="Calibri" pitchFamily="34" charset="-122"/>
                          <a:cs typeface="Calibri" pitchFamily="34" charset="-120"/>
                        </a:rPr>
                        <a:t>Decision Made</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r>
              <a:tr h="621792">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Subject column</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Fake spans 6 categories, True spans only 2 — near-perfect proxy for the label</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Dropped (leakage risk)</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621792">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Missing values</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Zero missing values across every column</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No imputation needed</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621792">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Duplicate rows</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5,793 fully duplicated rows (12.9% of merged data)</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Removed before train/test split</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621792">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Empty text field</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631 articles blank text, but a usable title</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Combined title + text</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5120640"/>
            <a:ext cx="11064240" cy="457200"/>
          </a:xfrm>
          <a:prstGeom prst="rect">
            <a:avLst/>
          </a:prstGeom>
          <a:noFill/>
          <a:ln/>
        </p:spPr>
        <p:txBody>
          <a:bodyPr wrap="square" lIns="0" tIns="0" rIns="0" bIns="0" rtlCol="0" anchor="ctr"/>
          <a:lstStyle/>
          <a:p>
            <a:pPr indent="0" marL="0">
              <a:buNone/>
            </a:pPr>
            <a:r>
              <a:rPr lang="en-US" sz="1300" i="1" dirty="0">
                <a:solidFill>
                  <a:srgbClr val="666666"/>
                </a:solidFill>
                <a:latin typeface="Calibri" pitchFamily="34" charset="0"/>
                <a:ea typeface="Calibri" pitchFamily="34" charset="-122"/>
                <a:cs typeface="Calibri" pitchFamily="34" charset="-120"/>
              </a:rPr>
              <a:t>Catching these early, before vectorizing anything, kept the later train/test split honest.</a:t>
            </a:r>
            <a:endParaRPr lang="en-US" sz="1300" dirty="0"/>
          </a:p>
        </p:txBody>
      </p:sp>
      <p:sp>
        <p:nvSpPr>
          <p:cNvPr id="7" name="Text 4"/>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11064240" cy="274320"/>
          </a:xfrm>
          <a:prstGeom prst="rect">
            <a:avLst/>
          </a:prstGeom>
          <a:noFill/>
          <a:ln/>
        </p:spPr>
        <p:txBody>
          <a:bodyPr wrap="square" lIns="0" tIns="0" rIns="0" bIns="0" rtlCol="0" anchor="ctr"/>
          <a:lstStyle/>
          <a:p>
            <a:pPr algn="l" indent="0" marL="0">
              <a:buNone/>
            </a:pPr>
            <a:r>
              <a:rPr lang="en-US" sz="1100" b="1" spc="100" kern="0" dirty="0">
                <a:solidFill>
                  <a:srgbClr val="666666"/>
                </a:solidFill>
                <a:latin typeface="Calibri" pitchFamily="34" charset="0"/>
                <a:ea typeface="Calibri" pitchFamily="34" charset="-122"/>
                <a:cs typeface="Calibri" pitchFamily="34" charset="-120"/>
              </a:rPr>
              <a:t>METHODOLOGY</a:t>
            </a:r>
            <a:endParaRPr lang="en-US" sz="1100" dirty="0"/>
          </a:p>
        </p:txBody>
      </p:sp>
      <p:sp>
        <p:nvSpPr>
          <p:cNvPr id="3" name="Text 1"/>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rgbClr val="1E2A44"/>
                </a:solidFill>
                <a:latin typeface="Cambria" pitchFamily="34" charset="0"/>
                <a:ea typeface="Cambria" pitchFamily="34" charset="-122"/>
                <a:cs typeface="Cambria" pitchFamily="34" charset="-120"/>
              </a:rPr>
              <a:t>Text Preprocessing Pipeline</a:t>
            </a:r>
            <a:endParaRPr lang="en-US" sz="2800" dirty="0"/>
          </a:p>
        </p:txBody>
      </p:sp>
      <p:sp>
        <p:nvSpPr>
          <p:cNvPr id="4" name="Shape 2"/>
          <p:cNvSpPr/>
          <p:nvPr/>
        </p:nvSpPr>
        <p:spPr>
          <a:xfrm>
            <a:off x="548640" y="1143000"/>
            <a:ext cx="11064240" cy="0"/>
          </a:xfrm>
          <a:prstGeom prst="line">
            <a:avLst/>
          </a:prstGeom>
          <a:noFill/>
          <a:ln w="12700">
            <a:solidFill>
              <a:srgbClr val="CCCCCC"/>
            </a:solidFill>
            <a:prstDash val="solid"/>
          </a:ln>
        </p:spPr>
      </p:sp>
      <p:sp>
        <p:nvSpPr>
          <p:cNvPr id="5" name="Text 3"/>
          <p:cNvSpPr/>
          <p:nvPr/>
        </p:nvSpPr>
        <p:spPr>
          <a:xfrm>
            <a:off x="548640" y="1554480"/>
            <a:ext cx="5394960" cy="3931920"/>
          </a:xfrm>
          <a:prstGeom prst="rect">
            <a:avLst/>
          </a:prstGeom>
          <a:noFill/>
          <a:ln/>
        </p:spPr>
        <p:txBody>
          <a:bodyPr wrap="square" lIns="0" tIns="0" rIns="0" bIns="0" rtlCol="0" anchor="t"/>
          <a:lstStyle/>
          <a:p>
            <a:pPr algn="l"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1. Lowercasing</a:t>
            </a:r>
            <a:endParaRPr lang="en-US" sz="1500" dirty="0"/>
          </a:p>
          <a:p>
            <a:pPr algn="l"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2. Exclamation mark count (before punctuation is touched)</a:t>
            </a:r>
            <a:endParaRPr lang="en-US" sz="1500" dirty="0"/>
          </a:p>
          <a:p>
            <a:pPr algn="l"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3. Article length measurement</a:t>
            </a:r>
            <a:endParaRPr lang="en-US" sz="1500" dirty="0"/>
          </a:p>
          <a:p>
            <a:pPr algn="l"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4. URL detection, then normalization to a single 'url' token</a:t>
            </a:r>
            <a:endParaRPr lang="en-US" sz="1500" dirty="0"/>
          </a:p>
          <a:p>
            <a:pPr algn="l"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5. HTML tag removal (68 articles affected)</a:t>
            </a:r>
            <a:endParaRPr lang="en-US" sz="1500" dirty="0"/>
          </a:p>
          <a:p>
            <a:pPr algn="l"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6. Punctuation removal</a:t>
            </a:r>
            <a:endParaRPr lang="en-US" sz="1500" dirty="0"/>
          </a:p>
        </p:txBody>
      </p:sp>
      <p:sp>
        <p:nvSpPr>
          <p:cNvPr id="6" name="Text 4"/>
          <p:cNvSpPr/>
          <p:nvPr/>
        </p:nvSpPr>
        <p:spPr>
          <a:xfrm>
            <a:off x="6309360" y="1554480"/>
            <a:ext cx="5303520" cy="3931920"/>
          </a:xfrm>
          <a:prstGeom prst="rect">
            <a:avLst/>
          </a:prstGeom>
          <a:noFill/>
          <a:ln/>
        </p:spPr>
        <p:txBody>
          <a:bodyPr wrap="square" lIns="0" tIns="0" rIns="0" bIns="0" rtlCol="0" anchor="t"/>
          <a:lstStyle/>
          <a:p>
            <a:pPr algn="l"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7. Whitespace collapsing</a:t>
            </a:r>
            <a:endParaRPr lang="en-US" sz="1500" dirty="0"/>
          </a:p>
          <a:p>
            <a:pPr algn="l"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8. Tokenization (NLTK word_tokenize)</a:t>
            </a:r>
            <a:endParaRPr lang="en-US" sz="1500" dirty="0"/>
          </a:p>
          <a:p>
            <a:pPr algn="l"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9. English stopword removal</a:t>
            </a:r>
            <a:endParaRPr lang="en-US" sz="1500" dirty="0"/>
          </a:p>
          <a:p>
            <a:pPr algn="l"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10. Porter stemming</a:t>
            </a:r>
            <a:endParaRPr lang="en-US" sz="1500" dirty="0"/>
          </a:p>
          <a:p>
            <a:pPr algn="l"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11. Rejoin tokens into clean_content</a:t>
            </a:r>
            <a:endParaRPr lang="en-US" sz="1500" dirty="0"/>
          </a:p>
        </p:txBody>
      </p:sp>
      <p:sp>
        <p:nvSpPr>
          <p:cNvPr id="7" name="Text 5"/>
          <p:cNvSpPr/>
          <p:nvPr/>
        </p:nvSpPr>
        <p:spPr>
          <a:xfrm>
            <a:off x="548640" y="5806440"/>
            <a:ext cx="11064240" cy="54864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Each step was applied and checked separately, not bundled into one cleaning function, so its individual effect on the data could be verified.</a:t>
            </a:r>
            <a:endParaRPr lang="en-US" sz="1200" dirty="0"/>
          </a:p>
        </p:txBody>
      </p:sp>
      <p:sp>
        <p:nvSpPr>
          <p:cNvPr id="8" name="Text 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11064240" cy="274320"/>
          </a:xfrm>
          <a:prstGeom prst="rect">
            <a:avLst/>
          </a:prstGeom>
          <a:noFill/>
          <a:ln/>
        </p:spPr>
        <p:txBody>
          <a:bodyPr wrap="square" lIns="0" tIns="0" rIns="0" bIns="0" rtlCol="0" anchor="ctr"/>
          <a:lstStyle/>
          <a:p>
            <a:pPr algn="l" indent="0" marL="0">
              <a:buNone/>
            </a:pPr>
            <a:r>
              <a:rPr lang="en-US" sz="1100" b="1" spc="100" kern="0" dirty="0">
                <a:solidFill>
                  <a:srgbClr val="666666"/>
                </a:solidFill>
                <a:latin typeface="Calibri" pitchFamily="34" charset="0"/>
                <a:ea typeface="Calibri" pitchFamily="34" charset="-122"/>
                <a:cs typeface="Calibri" pitchFamily="34" charset="-120"/>
              </a:rPr>
              <a:t>METHODOLOGY</a:t>
            </a:r>
            <a:endParaRPr lang="en-US" sz="1100" dirty="0"/>
          </a:p>
        </p:txBody>
      </p:sp>
      <p:sp>
        <p:nvSpPr>
          <p:cNvPr id="3" name="Text 1"/>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rgbClr val="1E2A44"/>
                </a:solidFill>
                <a:latin typeface="Cambria" pitchFamily="34" charset="0"/>
                <a:ea typeface="Cambria" pitchFamily="34" charset="-122"/>
                <a:cs typeface="Cambria" pitchFamily="34" charset="-120"/>
              </a:rPr>
              <a:t>Handcrafted Behavioral Features</a:t>
            </a:r>
            <a:endParaRPr lang="en-US" sz="2800" dirty="0"/>
          </a:p>
        </p:txBody>
      </p:sp>
      <p:sp>
        <p:nvSpPr>
          <p:cNvPr id="4" name="Shape 2"/>
          <p:cNvSpPr/>
          <p:nvPr/>
        </p:nvSpPr>
        <p:spPr>
          <a:xfrm>
            <a:off x="548640" y="1143000"/>
            <a:ext cx="11064240" cy="0"/>
          </a:xfrm>
          <a:prstGeom prst="line">
            <a:avLst/>
          </a:prstGeom>
          <a:noFill/>
          <a:ln w="12700">
            <a:solidFill>
              <a:srgbClr val="CCCCCC"/>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3108960"/>
                <a:gridCol w="2103120"/>
                <a:gridCol w="2103120"/>
                <a:gridCol w="1554480"/>
                <a:gridCol w="2194560"/>
              </a:tblGrid>
              <a:tr h="502920">
                <a:tc>
                  <a:txBody>
                    <a:bodyPr/>
                    <a:lstStyle/>
                    <a:p>
                      <a:pPr algn="ctr" indent="0" marL="0">
                        <a:buNone/>
                      </a:pPr>
                      <a:r>
                        <a:rPr lang="en-US" sz="1300" b="1" dirty="0">
                          <a:solidFill>
                            <a:srgbClr val="1A1A1A"/>
                          </a:solidFill>
                          <a:latin typeface="Calibri" pitchFamily="34" charset="0"/>
                          <a:ea typeface="Calibri" pitchFamily="34" charset="-122"/>
                          <a:cs typeface="Calibri" pitchFamily="34" charset="-120"/>
                        </a:rPr>
                        <a:t>Feature</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300" b="1" dirty="0">
                          <a:solidFill>
                            <a:srgbClr val="1A1A1A"/>
                          </a:solidFill>
                          <a:latin typeface="Calibri" pitchFamily="34" charset="0"/>
                          <a:ea typeface="Calibri" pitchFamily="34" charset="-122"/>
                          <a:cs typeface="Calibri" pitchFamily="34" charset="-120"/>
                        </a:rPr>
                        <a:t>Fake (mean)</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300" b="1" dirty="0">
                          <a:solidFill>
                            <a:srgbClr val="1A1A1A"/>
                          </a:solidFill>
                          <a:latin typeface="Calibri" pitchFamily="34" charset="0"/>
                          <a:ea typeface="Calibri" pitchFamily="34" charset="-122"/>
                          <a:cs typeface="Calibri" pitchFamily="34" charset="-120"/>
                        </a:rPr>
                        <a:t>True (mean)</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300" b="1" dirty="0">
                          <a:solidFill>
                            <a:srgbClr val="1A1A1A"/>
                          </a:solidFill>
                          <a:latin typeface="Calibri" pitchFamily="34" charset="0"/>
                          <a:ea typeface="Calibri" pitchFamily="34" charset="-122"/>
                          <a:cs typeface="Calibri" pitchFamily="34" charset="-120"/>
                        </a:rPr>
                        <a:t>Gap</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300" b="1" dirty="0">
                          <a:solidFill>
                            <a:srgbClr val="1A1A1A"/>
                          </a:solidFill>
                          <a:latin typeface="Calibri" pitchFamily="34" charset="0"/>
                          <a:ea typeface="Calibri" pitchFamily="34" charset="-122"/>
                          <a:cs typeface="Calibri" pitchFamily="34" charset="-120"/>
                        </a:rPr>
                        <a:t>Used in enhanced model?</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r>
              <a:tr h="502920">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exclamation_count</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0.85</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0.06</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~13x</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has_url</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14.3%</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0.2%</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~72x</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No (measured only)</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text_length (chars)</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2,579</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2,444</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~1.05x</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3931920"/>
            <a:ext cx="11064240" cy="2011680"/>
          </a:xfrm>
          <a:prstGeom prst="rect">
            <a:avLst/>
          </a:prstGeom>
          <a:noFill/>
          <a:ln/>
        </p:spPr>
        <p:txBody>
          <a:bodyPr wrap="square" lIns="0" tIns="0" rIns="0" bIns="0" rtlCol="0" anchor="t"/>
          <a:lstStyle/>
          <a:p>
            <a:pPr algn="l"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Exclamation marks show the clearest gap between classes, worth carrying forward as its own feature.</a:t>
            </a:r>
            <a:endParaRPr lang="en-US" sz="1400" dirty="0"/>
          </a:p>
          <a:p>
            <a:pPr algn="l"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URL presence has the largest relative gap of all three, but it was not carried into the enhanced feature set used for modeling — a gap flagged as future work.</a:t>
            </a:r>
            <a:endParaRPr lang="en-US" sz="1400" dirty="0"/>
          </a:p>
          <a:p>
            <a:pPr algn="l"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Article length barely separates the two classes; kept anyway, but expectations stayed modest.</a:t>
            </a:r>
            <a:endParaRPr lang="en-US" sz="1400" dirty="0"/>
          </a:p>
        </p:txBody>
      </p:sp>
      <p:sp>
        <p:nvSpPr>
          <p:cNvPr id="7" name="Text 4"/>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11064240" cy="274320"/>
          </a:xfrm>
          <a:prstGeom prst="rect">
            <a:avLst/>
          </a:prstGeom>
          <a:noFill/>
          <a:ln/>
        </p:spPr>
        <p:txBody>
          <a:bodyPr wrap="square" lIns="0" tIns="0" rIns="0" bIns="0" rtlCol="0" anchor="ctr"/>
          <a:lstStyle/>
          <a:p>
            <a:pPr algn="l" indent="0" marL="0">
              <a:buNone/>
            </a:pPr>
            <a:r>
              <a:rPr lang="en-US" sz="1100" b="1" spc="100" kern="0" dirty="0">
                <a:solidFill>
                  <a:srgbClr val="666666"/>
                </a:solidFill>
                <a:latin typeface="Calibri" pitchFamily="34" charset="0"/>
                <a:ea typeface="Calibri" pitchFamily="34" charset="-122"/>
                <a:cs typeface="Calibri" pitchFamily="34" charset="-120"/>
              </a:rPr>
              <a:t>METHODOLOGY</a:t>
            </a:r>
            <a:endParaRPr lang="en-US" sz="1100" dirty="0"/>
          </a:p>
        </p:txBody>
      </p:sp>
      <p:sp>
        <p:nvSpPr>
          <p:cNvPr id="3" name="Text 1"/>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rgbClr val="1E2A44"/>
                </a:solidFill>
                <a:latin typeface="Cambria" pitchFamily="34" charset="0"/>
                <a:ea typeface="Cambria" pitchFamily="34" charset="-122"/>
                <a:cs typeface="Cambria" pitchFamily="34" charset="-120"/>
              </a:rPr>
              <a:t>Three Text Representations Compared</a:t>
            </a:r>
            <a:endParaRPr lang="en-US" sz="2800" dirty="0"/>
          </a:p>
        </p:txBody>
      </p:sp>
      <p:sp>
        <p:nvSpPr>
          <p:cNvPr id="4" name="Shape 2"/>
          <p:cNvSpPr/>
          <p:nvPr/>
        </p:nvSpPr>
        <p:spPr>
          <a:xfrm>
            <a:off x="548640" y="1143000"/>
            <a:ext cx="11064240" cy="0"/>
          </a:xfrm>
          <a:prstGeom prst="line">
            <a:avLst/>
          </a:prstGeom>
          <a:noFill/>
          <a:ln w="12700">
            <a:solidFill>
              <a:srgbClr val="CCCCCC"/>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743200"/>
                <a:gridCol w="2377440"/>
                <a:gridCol w="5943600"/>
              </a:tblGrid>
              <a:tr h="640080">
                <a:tc>
                  <a:txBody>
                    <a:bodyPr/>
                    <a:lstStyle/>
                    <a:p>
                      <a:pPr algn="ctr" indent="0" marL="0">
                        <a:buNone/>
                      </a:pPr>
                      <a:r>
                        <a:rPr lang="en-US" sz="1400" b="1" dirty="0">
                          <a:solidFill>
                            <a:srgbClr val="1A1A1A"/>
                          </a:solidFill>
                          <a:latin typeface="Calibri" pitchFamily="34" charset="0"/>
                          <a:ea typeface="Calibri" pitchFamily="34" charset="-122"/>
                          <a:cs typeface="Calibri" pitchFamily="34" charset="-120"/>
                        </a:rPr>
                        <a:t>Representation</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400" b="1" dirty="0">
                          <a:solidFill>
                            <a:srgbClr val="1A1A1A"/>
                          </a:solidFill>
                          <a:latin typeface="Calibri" pitchFamily="34" charset="0"/>
                          <a:ea typeface="Calibri" pitchFamily="34" charset="-122"/>
                          <a:cs typeface="Calibri" pitchFamily="34" charset="-120"/>
                        </a:rPr>
                        <a:t>Dimensionality</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400" b="1" dirty="0">
                          <a:solidFill>
                            <a:srgbClr val="1A1A1A"/>
                          </a:solidFill>
                          <a:latin typeface="Calibri" pitchFamily="34" charset="0"/>
                          <a:ea typeface="Calibri" pitchFamily="34" charset="-122"/>
                          <a:cs typeface="Calibri" pitchFamily="34" charset="-120"/>
                        </a:rPr>
                        <a:t>What It Captures</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r>
              <a:tr h="640080">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Bag-of-Words</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10,000 (sparse)</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Raw word counts, no weighting for informativeness</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640080">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TF-IDF</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10,000 (sparse)</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Word counts, down-weighted by how common a word is across articles</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640080">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Word2Vec (averaged)</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100 (dense)</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Semantic similarity between words, learned from this corpus directly</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4389120"/>
            <a:ext cx="11064240" cy="457200"/>
          </a:xfrm>
          <a:prstGeom prst="rect">
            <a:avLst/>
          </a:prstGeom>
          <a:noFill/>
          <a:ln/>
        </p:spPr>
        <p:txBody>
          <a:bodyPr wrap="square" lIns="0" tIns="0" rIns="0" bIns="0" rtlCol="0" anchor="ctr"/>
          <a:lstStyle/>
          <a:p>
            <a:pPr indent="0" marL="0">
              <a:buNone/>
            </a:pPr>
            <a:r>
              <a:rPr lang="en-US" sz="1300" i="1" dirty="0">
                <a:solidFill>
                  <a:srgbClr val="666666"/>
                </a:solidFill>
                <a:latin typeface="Calibri" pitchFamily="34" charset="0"/>
                <a:ea typeface="Calibri" pitchFamily="34" charset="-122"/>
                <a:cs typeface="Calibri" pitchFamily="34" charset="-120"/>
              </a:rPr>
              <a:t>Word2Vec is trained from scratch on this dataset's own cleaned articles, not loaded from an external pretrained source.</a:t>
            </a:r>
            <a:endParaRPr lang="en-US" sz="1300" dirty="0"/>
          </a:p>
        </p:txBody>
      </p:sp>
      <p:sp>
        <p:nvSpPr>
          <p:cNvPr id="7" name="Text 4"/>
          <p:cNvSpPr/>
          <p:nvPr/>
        </p:nvSpPr>
        <p:spPr>
          <a:xfrm>
            <a:off x="548640" y="4937760"/>
            <a:ext cx="11064240" cy="45720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All three are built on the same 39,105-article corpus, so any accuracy difference between them comes from the representation itself.</a:t>
            </a:r>
            <a:endParaRPr lang="en-US" sz="1300" dirty="0"/>
          </a:p>
        </p:txBody>
      </p:sp>
      <p:sp>
        <p:nvSpPr>
          <p:cNvPr id="8" name="Text 5"/>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11064240" cy="274320"/>
          </a:xfrm>
          <a:prstGeom prst="rect">
            <a:avLst/>
          </a:prstGeom>
          <a:noFill/>
          <a:ln/>
        </p:spPr>
        <p:txBody>
          <a:bodyPr wrap="square" lIns="0" tIns="0" rIns="0" bIns="0" rtlCol="0" anchor="ctr"/>
          <a:lstStyle/>
          <a:p>
            <a:pPr algn="l" indent="0" marL="0">
              <a:buNone/>
            </a:pPr>
            <a:r>
              <a:rPr lang="en-US" sz="1100" b="1" spc="100" kern="0" dirty="0">
                <a:solidFill>
                  <a:srgbClr val="666666"/>
                </a:solidFill>
                <a:latin typeface="Calibri" pitchFamily="34" charset="0"/>
                <a:ea typeface="Calibri" pitchFamily="34" charset="-122"/>
                <a:cs typeface="Calibri" pitchFamily="34" charset="-120"/>
              </a:rPr>
              <a:t>METHODOLOGY</a:t>
            </a:r>
            <a:endParaRPr lang="en-US" sz="1100" dirty="0"/>
          </a:p>
        </p:txBody>
      </p:sp>
      <p:sp>
        <p:nvSpPr>
          <p:cNvPr id="3" name="Text 1"/>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rgbClr val="1E2A44"/>
                </a:solidFill>
                <a:latin typeface="Cambria" pitchFamily="34" charset="0"/>
                <a:ea typeface="Cambria" pitchFamily="34" charset="-122"/>
                <a:cs typeface="Cambria" pitchFamily="34" charset="-120"/>
              </a:rPr>
              <a:t>Models Used</a:t>
            </a:r>
            <a:endParaRPr lang="en-US" sz="2800" dirty="0"/>
          </a:p>
        </p:txBody>
      </p:sp>
      <p:sp>
        <p:nvSpPr>
          <p:cNvPr id="4" name="Shape 2"/>
          <p:cNvSpPr/>
          <p:nvPr/>
        </p:nvSpPr>
        <p:spPr>
          <a:xfrm>
            <a:off x="548640" y="1143000"/>
            <a:ext cx="11064240" cy="0"/>
          </a:xfrm>
          <a:prstGeom prst="line">
            <a:avLst/>
          </a:prstGeom>
          <a:noFill/>
          <a:ln w="12700">
            <a:solidFill>
              <a:srgbClr val="CCCCCC"/>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926080"/>
                <a:gridCol w="2377440"/>
                <a:gridCol w="5760720"/>
              </a:tblGrid>
              <a:tr h="685800">
                <a:tc>
                  <a:txBody>
                    <a:bodyPr/>
                    <a:lstStyle/>
                    <a:p>
                      <a:pPr algn="ctr" indent="0" marL="0">
                        <a:buNone/>
                      </a:pPr>
                      <a:r>
                        <a:rPr lang="en-US" sz="1400" b="1" dirty="0">
                          <a:solidFill>
                            <a:srgbClr val="1A1A1A"/>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400" b="1" dirty="0">
                          <a:solidFill>
                            <a:srgbClr val="1A1A1A"/>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400" b="1" dirty="0">
                          <a:solidFill>
                            <a:srgbClr val="1A1A1A"/>
                          </a:solidFill>
                          <a:latin typeface="Calibri" pitchFamily="34" charset="0"/>
                          <a:ea typeface="Calibri" pitchFamily="34" charset="-122"/>
                          <a:cs typeface="Calibri" pitchFamily="34" charset="-120"/>
                        </a:rPr>
                        <a:t>Why It Was Included</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r>
              <a:tr h="685800">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K-Nearest Neighbors</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Non-parametric</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Simple distance-based baseline, no training phase</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685800">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Logistic Regression</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Parametric, linear</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Strong TF-IDF baseline, coefficients are directly interpretable</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685800">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Random Forest</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Ensemble</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Handles nonlinear splits, can act on handcrafted features directly</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685800">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Neural Network</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Deep learning (shallow)</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1A"/>
                          </a:solidFill>
                          <a:latin typeface="Calibri" pitchFamily="34" charset="0"/>
                          <a:ea typeface="Calibri" pitchFamily="34" charset="-122"/>
                          <a:cs typeface="Calibri" pitchFamily="34" charset="-120"/>
                        </a:rPr>
                        <a:t>Tests whether added model complexity helps on this task</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5257800"/>
            <a:ext cx="11064240" cy="822960"/>
          </a:xfrm>
          <a:prstGeom prst="rect">
            <a:avLst/>
          </a:prstGeom>
          <a:noFill/>
          <a:ln/>
        </p:spPr>
        <p:txBody>
          <a:bodyPr wrap="square" lIns="0" tIns="0" rIns="0" bIns="0" rtlCol="0" anchor="ctr"/>
          <a:lstStyle/>
          <a:p>
            <a:pPr indent="0" marL="0">
              <a:buNone/>
            </a:pPr>
            <a:r>
              <a:rPr lang="en-US" sz="1300" dirty="0">
                <a:solidFill>
                  <a:srgbClr val="666666"/>
                </a:solidFill>
                <a:latin typeface="Calibri" pitchFamily="34" charset="0"/>
                <a:ea typeface="Calibri" pitchFamily="34" charset="-122"/>
                <a:cs typeface="Calibri" pitchFamily="34" charset="-120"/>
              </a:rPr>
              <a:t>All four are trained on TF-IDF first, forming the baseline comparison in the next section. Logistic Regression is then reused across the other two experiments (representation comparison, enhanced features).</a:t>
            </a:r>
            <a:endParaRPr lang="en-US" sz="1300" dirty="0"/>
          </a:p>
        </p:txBody>
      </p:sp>
      <p:sp>
        <p:nvSpPr>
          <p:cNvPr id="7" name="Text 4"/>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11064240" cy="274320"/>
          </a:xfrm>
          <a:prstGeom prst="rect">
            <a:avLst/>
          </a:prstGeom>
          <a:noFill/>
          <a:ln/>
        </p:spPr>
        <p:txBody>
          <a:bodyPr wrap="square" lIns="0" tIns="0" rIns="0" bIns="0" rtlCol="0" anchor="ctr"/>
          <a:lstStyle/>
          <a:p>
            <a:pPr algn="l" indent="0" marL="0">
              <a:buNone/>
            </a:pPr>
            <a:r>
              <a:rPr lang="en-US" sz="1100" b="1" spc="100" kern="0" dirty="0">
                <a:solidFill>
                  <a:srgbClr val="666666"/>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rgbClr val="1E2A44"/>
                </a:solidFill>
                <a:latin typeface="Cambria" pitchFamily="34" charset="0"/>
                <a:ea typeface="Cambria" pitchFamily="34" charset="-122"/>
                <a:cs typeface="Cambria" pitchFamily="34" charset="-120"/>
              </a:rPr>
              <a:t>Baseline Model Comparison (TF-IDF)</a:t>
            </a:r>
            <a:endParaRPr lang="en-US" sz="2800" dirty="0"/>
          </a:p>
        </p:txBody>
      </p:sp>
      <p:sp>
        <p:nvSpPr>
          <p:cNvPr id="4" name="Shape 2"/>
          <p:cNvSpPr/>
          <p:nvPr/>
        </p:nvSpPr>
        <p:spPr>
          <a:xfrm>
            <a:off x="548640" y="1143000"/>
            <a:ext cx="11064240" cy="0"/>
          </a:xfrm>
          <a:prstGeom prst="line">
            <a:avLst/>
          </a:prstGeom>
          <a:noFill/>
          <a:ln w="12700">
            <a:solidFill>
              <a:srgbClr val="CCCCCC"/>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3749040"/>
                <a:gridCol w="1828800"/>
                <a:gridCol w="1828800"/>
                <a:gridCol w="1828800"/>
                <a:gridCol w="1828800"/>
              </a:tblGrid>
              <a:tr h="502920">
                <a:tc>
                  <a:txBody>
                    <a:bodyPr/>
                    <a:lstStyle/>
                    <a:p>
                      <a:pPr algn="ctr" indent="0" marL="0">
                        <a:buNone/>
                      </a:pPr>
                      <a:r>
                        <a:rPr lang="en-US" sz="1500" b="1" dirty="0">
                          <a:solidFill>
                            <a:srgbClr val="1A1A1A"/>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500" b="1" dirty="0">
                          <a:solidFill>
                            <a:srgbClr val="1A1A1A"/>
                          </a:solidFill>
                          <a:latin typeface="Calibri" pitchFamily="34" charset="0"/>
                          <a:ea typeface="Calibri" pitchFamily="34" charset="-122"/>
                          <a:cs typeface="Calibri" pitchFamily="34" charset="-120"/>
                        </a:rPr>
                        <a:t>Train Acc.</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500" b="1" dirty="0">
                          <a:solidFill>
                            <a:srgbClr val="1A1A1A"/>
                          </a:solidFill>
                          <a:latin typeface="Calibri" pitchFamily="34" charset="0"/>
                          <a:ea typeface="Calibri" pitchFamily="34" charset="-122"/>
                          <a:cs typeface="Calibri" pitchFamily="34" charset="-120"/>
                        </a:rPr>
                        <a:t>Test Acc.</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500" b="1" dirty="0">
                          <a:solidFill>
                            <a:srgbClr val="1A1A1A"/>
                          </a:solidFill>
                          <a:latin typeface="Calibri" pitchFamily="34" charset="0"/>
                          <a:ea typeface="Calibri" pitchFamily="34" charset="-122"/>
                          <a:cs typeface="Calibri" pitchFamily="34" charset="-120"/>
                        </a:rPr>
                        <a:t>F1 (Fake)</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500" b="1" dirty="0">
                          <a:solidFill>
                            <a:srgbClr val="1A1A1A"/>
                          </a:solidFill>
                          <a:latin typeface="Calibri" pitchFamily="34" charset="0"/>
                          <a:ea typeface="Calibri" pitchFamily="34" charset="-122"/>
                          <a:cs typeface="Calibri" pitchFamily="34" charset="-120"/>
                        </a:rPr>
                        <a:t>F1 (True)</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r>
              <a:tr h="502920">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KNN</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0.9093</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0.8579</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0.8288</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0.8786</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502920">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Logistic Regression</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0.9895</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0.9843</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0.9827</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0.9856</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502920">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Random Forest</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0.9817</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0.9720</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0.9687</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0.9747</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502920">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Neural Network</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1.0000</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0.9875</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0.9863</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0.9885</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4343400"/>
            <a:ext cx="11064240" cy="1920240"/>
          </a:xfrm>
          <a:prstGeom prst="rect">
            <a:avLst/>
          </a:prstGeom>
          <a:noFill/>
          <a:ln/>
        </p:spPr>
        <p:txBody>
          <a:bodyPr wrap="square" lIns="0" tIns="0" rIns="0" bIns="0" rtlCol="0" anchor="t"/>
          <a:lstStyle/>
          <a:p>
            <a:pPr algn="l"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Neural Network leads on test accuracy (98.75%), Logistic Regression close behind (98.43%).</a:t>
            </a:r>
            <a:endParaRPr lang="en-US" sz="1400" dirty="0"/>
          </a:p>
          <a:p>
            <a:pPr algn="l"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KNN trails well behind at 85.79%, and only catches 75% of actual fake articles — distance-based voting struggles in a 10,000-dimension sparse space.</a:t>
            </a:r>
            <a:endParaRPr lang="en-US" sz="1400" dirty="0"/>
          </a:p>
          <a:p>
            <a:pPr algn="l"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Neural Network hits perfect training accuracy (1.0000), a clear overfitting signature, yet test accuracy barely suffers.</a:t>
            </a:r>
            <a:endParaRPr lang="en-US" sz="1400" dirty="0"/>
          </a:p>
        </p:txBody>
      </p:sp>
      <p:sp>
        <p:nvSpPr>
          <p:cNvPr id="7" name="Text 4"/>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11064240" cy="274320"/>
          </a:xfrm>
          <a:prstGeom prst="rect">
            <a:avLst/>
          </a:prstGeom>
          <a:noFill/>
          <a:ln/>
        </p:spPr>
        <p:txBody>
          <a:bodyPr wrap="square" lIns="0" tIns="0" rIns="0" bIns="0" rtlCol="0" anchor="ctr"/>
          <a:lstStyle/>
          <a:p>
            <a:pPr algn="l" indent="0" marL="0">
              <a:buNone/>
            </a:pPr>
            <a:r>
              <a:rPr lang="en-US" sz="1100" b="1" spc="100" kern="0" dirty="0">
                <a:solidFill>
                  <a:srgbClr val="666666"/>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rgbClr val="1E2A44"/>
                </a:solidFill>
                <a:latin typeface="Cambria" pitchFamily="34" charset="0"/>
                <a:ea typeface="Cambria" pitchFamily="34" charset="-122"/>
                <a:cs typeface="Cambria" pitchFamily="34" charset="-120"/>
              </a:rPr>
              <a:t>Confusion Matrices — Baseline Models</a:t>
            </a:r>
            <a:endParaRPr lang="en-US" sz="2800" dirty="0"/>
          </a:p>
        </p:txBody>
      </p:sp>
      <p:sp>
        <p:nvSpPr>
          <p:cNvPr id="4" name="Shape 2"/>
          <p:cNvSpPr/>
          <p:nvPr/>
        </p:nvSpPr>
        <p:spPr>
          <a:xfrm>
            <a:off x="548640" y="1143000"/>
            <a:ext cx="11064240" cy="0"/>
          </a:xfrm>
          <a:prstGeom prst="line">
            <a:avLst/>
          </a:prstGeom>
          <a:noFill/>
          <a:ln w="12700">
            <a:solidFill>
              <a:srgbClr val="CCCCCC"/>
            </a:solidFill>
            <a:prstDash val="solid"/>
          </a:ln>
        </p:spPr>
      </p:sp>
      <p:pic>
        <p:nvPicPr>
          <p:cNvPr id="5" name="Image 0" descr="/home/claude/ppt/images/cm_logreg.png">    </p:cNvPr>
          <p:cNvPicPr>
            <a:picLocks noChangeAspect="1"/>
          </p:cNvPicPr>
          <p:nvPr/>
        </p:nvPicPr>
        <p:blipFill>
          <a:blip r:embed="rId1"/>
          <a:stretch>
            <a:fillRect/>
          </a:stretch>
        </p:blipFill>
        <p:spPr>
          <a:xfrm>
            <a:off x="640080" y="1508760"/>
            <a:ext cx="2606040" cy="2258568"/>
          </a:xfrm>
          <a:prstGeom prst="rect">
            <a:avLst/>
          </a:prstGeom>
        </p:spPr>
      </p:pic>
      <p:pic>
        <p:nvPicPr>
          <p:cNvPr id="6" name="Image 1" descr="/home/claude/ppt/images/cm_rf.png">    </p:cNvPr>
          <p:cNvPicPr>
            <a:picLocks noChangeAspect="1"/>
          </p:cNvPicPr>
          <p:nvPr/>
        </p:nvPicPr>
        <p:blipFill>
          <a:blip r:embed="rId2"/>
          <a:stretch>
            <a:fillRect/>
          </a:stretch>
        </p:blipFill>
        <p:spPr>
          <a:xfrm>
            <a:off x="3520440" y="1508760"/>
            <a:ext cx="2606040" cy="2258568"/>
          </a:xfrm>
          <a:prstGeom prst="rect">
            <a:avLst/>
          </a:prstGeom>
        </p:spPr>
      </p:pic>
      <p:pic>
        <p:nvPicPr>
          <p:cNvPr id="7" name="Image 2" descr="/home/claude/ppt/images/cm_knn.png">    </p:cNvPr>
          <p:cNvPicPr>
            <a:picLocks noChangeAspect="1"/>
          </p:cNvPicPr>
          <p:nvPr/>
        </p:nvPicPr>
        <p:blipFill>
          <a:blip r:embed="rId3"/>
          <a:stretch>
            <a:fillRect/>
          </a:stretch>
        </p:blipFill>
        <p:spPr>
          <a:xfrm>
            <a:off x="6400800" y="1508760"/>
            <a:ext cx="2606040" cy="2258568"/>
          </a:xfrm>
          <a:prstGeom prst="rect">
            <a:avLst/>
          </a:prstGeom>
        </p:spPr>
      </p:pic>
      <p:pic>
        <p:nvPicPr>
          <p:cNvPr id="8" name="Image 3" descr="/home/claude/ppt/images/cm_nn.png">    </p:cNvPr>
          <p:cNvPicPr>
            <a:picLocks noChangeAspect="1"/>
          </p:cNvPicPr>
          <p:nvPr/>
        </p:nvPicPr>
        <p:blipFill>
          <a:blip r:embed="rId4"/>
          <a:stretch>
            <a:fillRect/>
          </a:stretch>
        </p:blipFill>
        <p:spPr>
          <a:xfrm>
            <a:off x="9281160" y="1508760"/>
            <a:ext cx="2606040" cy="2258568"/>
          </a:xfrm>
          <a:prstGeom prst="rect">
            <a:avLst/>
          </a:prstGeom>
        </p:spPr>
      </p:pic>
      <p:sp>
        <p:nvSpPr>
          <p:cNvPr id="9" name="Text 3"/>
          <p:cNvSpPr/>
          <p:nvPr/>
        </p:nvSpPr>
        <p:spPr>
          <a:xfrm>
            <a:off x="548640" y="4023360"/>
            <a:ext cx="11064240" cy="548640"/>
          </a:xfrm>
          <a:prstGeom prst="rect">
            <a:avLst/>
          </a:prstGeom>
          <a:noFill/>
          <a:ln/>
        </p:spPr>
        <p:txBody>
          <a:bodyPr wrap="square" lIns="0" tIns="0" rIns="0" bIns="0" rtlCol="0" anchor="ctr"/>
          <a:lstStyle/>
          <a:p>
            <a:pPr indent="0" marL="0">
              <a:buNone/>
            </a:pPr>
            <a:r>
              <a:rPr lang="en-US" sz="1300" i="1" dirty="0">
                <a:solidFill>
                  <a:srgbClr val="666666"/>
                </a:solidFill>
                <a:latin typeface="Calibri" pitchFamily="34" charset="0"/>
                <a:ea typeface="Calibri" pitchFamily="34" charset="-122"/>
                <a:cs typeface="Calibri" pitchFamily="34" charset="-120"/>
              </a:rPr>
              <a:t>Every model over-predicts True slightly more than Fake, except KNN, whose Fake column is visibly leakier (893 fake articles mislabeled True).</a:t>
            </a:r>
            <a:endParaRPr lang="en-US" sz="1300" dirty="0"/>
          </a:p>
        </p:txBody>
      </p:sp>
      <p:sp>
        <p:nvSpPr>
          <p:cNvPr id="10" name="Text 4"/>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11064240" cy="274320"/>
          </a:xfrm>
          <a:prstGeom prst="rect">
            <a:avLst/>
          </a:prstGeom>
          <a:noFill/>
          <a:ln/>
        </p:spPr>
        <p:txBody>
          <a:bodyPr wrap="square" lIns="0" tIns="0" rIns="0" bIns="0" rtlCol="0" anchor="ctr"/>
          <a:lstStyle/>
          <a:p>
            <a:pPr algn="l" indent="0" marL="0">
              <a:buNone/>
            </a:pPr>
            <a:r>
              <a:rPr lang="en-US" sz="1100" b="1" spc="100" kern="0" dirty="0">
                <a:solidFill>
                  <a:srgbClr val="666666"/>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rgbClr val="1E2A44"/>
                </a:solidFill>
                <a:latin typeface="Cambria" pitchFamily="34" charset="0"/>
                <a:ea typeface="Cambria" pitchFamily="34" charset="-122"/>
                <a:cs typeface="Cambria" pitchFamily="34" charset="-120"/>
              </a:rPr>
              <a:t>Representation Comparison (Logistic Regression)</a:t>
            </a:r>
            <a:endParaRPr lang="en-US" sz="2800" dirty="0"/>
          </a:p>
        </p:txBody>
      </p:sp>
      <p:sp>
        <p:nvSpPr>
          <p:cNvPr id="4" name="Shape 2"/>
          <p:cNvSpPr/>
          <p:nvPr/>
        </p:nvSpPr>
        <p:spPr>
          <a:xfrm>
            <a:off x="548640" y="1143000"/>
            <a:ext cx="11064240" cy="0"/>
          </a:xfrm>
          <a:prstGeom prst="line">
            <a:avLst/>
          </a:prstGeom>
          <a:noFill/>
          <a:ln w="12700">
            <a:solidFill>
              <a:srgbClr val="CCCCCC"/>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3749040"/>
                <a:gridCol w="1828800"/>
                <a:gridCol w="1828800"/>
                <a:gridCol w="1828800"/>
                <a:gridCol w="1828800"/>
              </a:tblGrid>
              <a:tr h="548640">
                <a:tc>
                  <a:txBody>
                    <a:bodyPr/>
                    <a:lstStyle/>
                    <a:p>
                      <a:pPr algn="ctr" indent="0" marL="0">
                        <a:buNone/>
                      </a:pPr>
                      <a:r>
                        <a:rPr lang="en-US" sz="1500" b="1" dirty="0">
                          <a:solidFill>
                            <a:srgbClr val="1A1A1A"/>
                          </a:solidFill>
                          <a:latin typeface="Calibri" pitchFamily="34" charset="0"/>
                          <a:ea typeface="Calibri" pitchFamily="34" charset="-122"/>
                          <a:cs typeface="Calibri" pitchFamily="34" charset="-120"/>
                        </a:rPr>
                        <a:t>Representation</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500" b="1" dirty="0">
                          <a:solidFill>
                            <a:srgbClr val="1A1A1A"/>
                          </a:solidFill>
                          <a:latin typeface="Calibri" pitchFamily="34" charset="0"/>
                          <a:ea typeface="Calibri" pitchFamily="34" charset="-122"/>
                          <a:cs typeface="Calibri" pitchFamily="34" charset="-120"/>
                        </a:rPr>
                        <a:t>Train Acc.</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500" b="1" dirty="0">
                          <a:solidFill>
                            <a:srgbClr val="1A1A1A"/>
                          </a:solidFill>
                          <a:latin typeface="Calibri" pitchFamily="34" charset="0"/>
                          <a:ea typeface="Calibri" pitchFamily="34" charset="-122"/>
                          <a:cs typeface="Calibri" pitchFamily="34" charset="-120"/>
                        </a:rPr>
                        <a:t>Test Acc.</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500" b="1" dirty="0">
                          <a:solidFill>
                            <a:srgbClr val="1A1A1A"/>
                          </a:solidFill>
                          <a:latin typeface="Calibri" pitchFamily="34" charset="0"/>
                          <a:ea typeface="Calibri" pitchFamily="34" charset="-122"/>
                          <a:cs typeface="Calibri" pitchFamily="34" charset="-120"/>
                        </a:rPr>
                        <a:t>F1 (Fake)</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500" b="1" dirty="0">
                          <a:solidFill>
                            <a:srgbClr val="1A1A1A"/>
                          </a:solidFill>
                          <a:latin typeface="Calibri" pitchFamily="34" charset="0"/>
                          <a:ea typeface="Calibri" pitchFamily="34" charset="-122"/>
                          <a:cs typeface="Calibri" pitchFamily="34" charset="-120"/>
                        </a:rPr>
                        <a:t>F1 (True)</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r>
              <a:tr h="548640">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TF-IDF</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0.9895</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0.9843</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0.9827</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0.9856</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548640">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Bag-of-Words</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1.0000</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0.9937</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0.9931</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0.9942</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548640">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Word2Vec</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0.9824</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0.9807</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0.9789</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0.9822</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4069080"/>
            <a:ext cx="11064240" cy="2194560"/>
          </a:xfrm>
          <a:prstGeom prst="rect">
            <a:avLst/>
          </a:prstGeom>
          <a:noFill/>
          <a:ln/>
        </p:spPr>
        <p:txBody>
          <a:bodyPr wrap="square" lIns="0" tIns="0" rIns="0" bIns="0" rtlCol="0" anchor="t"/>
          <a:lstStyle/>
          <a:p>
            <a:pPr algn="l"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Bag-of-Words actually edges out TF-IDF (99.37% vs 98.43%) despite being the simpler, unweighted representation.</a:t>
            </a:r>
            <a:endParaRPr lang="en-US" sz="1400" dirty="0"/>
          </a:p>
          <a:p>
            <a:pPr algn="l"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Word2Vec, compressed to just 100 dense dimensions, still reaches 98.07% — barely a point behind sparse 10,000-dimension methods.</a:t>
            </a:r>
            <a:endParaRPr lang="en-US" sz="1400" dirty="0"/>
          </a:p>
          <a:p>
            <a:pPr algn="l"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All three land within one percentage point of each other. For this dataset, representation choice matters far less than expected.</a:t>
            </a:r>
            <a:endParaRPr lang="en-US" sz="1400" dirty="0"/>
          </a:p>
        </p:txBody>
      </p:sp>
      <p:sp>
        <p:nvSpPr>
          <p:cNvPr id="7" name="Text 4"/>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11064240" cy="274320"/>
          </a:xfrm>
          <a:prstGeom prst="rect">
            <a:avLst/>
          </a:prstGeom>
          <a:noFill/>
          <a:ln/>
        </p:spPr>
        <p:txBody>
          <a:bodyPr wrap="square" lIns="0" tIns="0" rIns="0" bIns="0" rtlCol="0" anchor="ctr"/>
          <a:lstStyle/>
          <a:p>
            <a:pPr algn="l" indent="0" marL="0">
              <a:buNone/>
            </a:pPr>
            <a:r>
              <a:rPr lang="en-US" sz="1100" b="1" spc="100" kern="0" dirty="0">
                <a:solidFill>
                  <a:srgbClr val="666666"/>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rgbClr val="1E2A44"/>
                </a:solidFill>
                <a:latin typeface="Cambria" pitchFamily="34" charset="0"/>
                <a:ea typeface="Cambria" pitchFamily="34" charset="-122"/>
                <a:cs typeface="Cambria" pitchFamily="34" charset="-120"/>
              </a:rPr>
              <a:t>Feature Importance — What the Model Relies On</a:t>
            </a:r>
            <a:endParaRPr lang="en-US" sz="2800" dirty="0"/>
          </a:p>
        </p:txBody>
      </p:sp>
      <p:sp>
        <p:nvSpPr>
          <p:cNvPr id="4" name="Shape 2"/>
          <p:cNvSpPr/>
          <p:nvPr/>
        </p:nvSpPr>
        <p:spPr>
          <a:xfrm>
            <a:off x="548640" y="1143000"/>
            <a:ext cx="11064240" cy="0"/>
          </a:xfrm>
          <a:prstGeom prst="line">
            <a:avLst/>
          </a:prstGeom>
          <a:noFill/>
          <a:ln w="12700">
            <a:solidFill>
              <a:srgbClr val="CCCCCC"/>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3108960"/>
                <a:gridCol w="2468880"/>
                <a:gridCol w="3108960"/>
                <a:gridCol w="2377440"/>
              </a:tblGrid>
              <a:tr h="502920">
                <a:tc>
                  <a:txBody>
                    <a:bodyPr/>
                    <a:lstStyle/>
                    <a:p>
                      <a:pPr algn="ctr" indent="0" marL="0">
                        <a:buNone/>
                      </a:pPr>
                      <a:r>
                        <a:rPr lang="en-US" sz="1500" b="1" dirty="0">
                          <a:solidFill>
                            <a:srgbClr val="1A1A1A"/>
                          </a:solidFill>
                          <a:latin typeface="Calibri" pitchFamily="34" charset="0"/>
                          <a:ea typeface="Calibri" pitchFamily="34" charset="-122"/>
                          <a:cs typeface="Calibri" pitchFamily="34" charset="-120"/>
                        </a:rPr>
                        <a:t>Toward True</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500" b="1" dirty="0">
                          <a:solidFill>
                            <a:srgbClr val="1A1A1A"/>
                          </a:solidFill>
                          <a:latin typeface="Calibri" pitchFamily="34" charset="0"/>
                          <a:ea typeface="Calibri" pitchFamily="34" charset="-122"/>
                          <a:cs typeface="Calibri" pitchFamily="34" charset="-120"/>
                        </a:rPr>
                        <a:t>Coefficient</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500" b="1" dirty="0">
                          <a:solidFill>
                            <a:srgbClr val="1A1A1A"/>
                          </a:solidFill>
                          <a:latin typeface="Calibri" pitchFamily="34" charset="0"/>
                          <a:ea typeface="Calibri" pitchFamily="34" charset="-122"/>
                          <a:cs typeface="Calibri" pitchFamily="34" charset="-120"/>
                        </a:rPr>
                        <a:t>Toward Fake</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500" b="1" dirty="0">
                          <a:solidFill>
                            <a:srgbClr val="1A1A1A"/>
                          </a:solidFill>
                          <a:latin typeface="Calibri" pitchFamily="34" charset="0"/>
                          <a:ea typeface="Calibri" pitchFamily="34" charset="-122"/>
                          <a:cs typeface="Calibri" pitchFamily="34" charset="-120"/>
                        </a:rPr>
                        <a:t>Coefficient</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r>
              <a:tr h="502920">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reuter</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21.75</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video</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-8.96</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502920">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said</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18.64</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imag</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-8.92</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502920">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washington</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6.18</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via</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-8.67</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502920">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us</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5.50</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gop</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-5.73</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4343400"/>
            <a:ext cx="11064240" cy="320040"/>
          </a:xfrm>
          <a:prstGeom prst="rect">
            <a:avLst/>
          </a:prstGeom>
          <a:noFill/>
          <a:ln/>
        </p:spPr>
        <p:txBody>
          <a:bodyPr wrap="square" lIns="0" tIns="0" rIns="0" bIns="0" rtlCol="0" anchor="ctr"/>
          <a:lstStyle/>
          <a:p>
            <a:pPr indent="0" marL="0">
              <a:buNone/>
            </a:pPr>
            <a:r>
              <a:rPr lang="en-US" sz="1500" b="1" dirty="0">
                <a:solidFill>
                  <a:srgbClr val="1E2A44"/>
                </a:solidFill>
                <a:latin typeface="Calibri" pitchFamily="34" charset="0"/>
                <a:ea typeface="Calibri" pitchFamily="34" charset="-122"/>
                <a:cs typeface="Calibri" pitchFamily="34" charset="-120"/>
              </a:rPr>
              <a:t>A limitation, not a strength:</a:t>
            </a:r>
            <a:endParaRPr lang="en-US" sz="1500" dirty="0"/>
          </a:p>
        </p:txBody>
      </p:sp>
      <p:sp>
        <p:nvSpPr>
          <p:cNvPr id="7" name="Text 4"/>
          <p:cNvSpPr/>
          <p:nvPr/>
        </p:nvSpPr>
        <p:spPr>
          <a:xfrm>
            <a:off x="548640" y="4709160"/>
            <a:ext cx="11064240" cy="1737360"/>
          </a:xfrm>
          <a:prstGeom prst="rect">
            <a:avLst/>
          </a:prstGeom>
          <a:noFill/>
          <a:ln/>
        </p:spPr>
        <p:txBody>
          <a:bodyPr wrap="square" lIns="0" tIns="0" rIns="0" bIns="0" rtlCol="0" anchor="t"/>
          <a:lstStyle/>
          <a:p>
            <a:pPr algn="l" marL="228600" indent="-2286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"reuter" is the single strongest word in the entire model — but every True article in this dataset is Reuters-sourced.</a:t>
            </a:r>
            <a:endParaRPr lang="en-US" sz="1300" dirty="0"/>
          </a:p>
          <a:p>
            <a:pPr algn="l" marL="228600" indent="-2286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The model has partly learned to recognize a wire-service byline, not a general property of trustworthy reporting.</a:t>
            </a:r>
            <a:endParaRPr lang="en-US" sz="1300" dirty="0"/>
          </a:p>
          <a:p>
            <a:pPr algn="l" marL="228600" indent="-2286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"video," "imag," and "via" on the Fake side point to embedded media and sensational framing — a signal more likely to generalize.</a:t>
            </a:r>
            <a:endParaRPr lang="en-US" sz="1300" dirty="0"/>
          </a:p>
        </p:txBody>
      </p:sp>
      <p:sp>
        <p:nvSpPr>
          <p:cNvPr id="8" name="Text 5"/>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11064240" cy="274320"/>
          </a:xfrm>
          <a:prstGeom prst="rect">
            <a:avLst/>
          </a:prstGeom>
          <a:noFill/>
          <a:ln/>
        </p:spPr>
        <p:txBody>
          <a:bodyPr wrap="square" lIns="0" tIns="0" rIns="0" bIns="0" rtlCol="0" anchor="ctr"/>
          <a:lstStyle/>
          <a:p>
            <a:pPr algn="l" indent="0" marL="0">
              <a:buNone/>
            </a:pPr>
            <a:r>
              <a:rPr lang="en-US" sz="1100" b="1" spc="100" kern="0" dirty="0">
                <a:solidFill>
                  <a:srgbClr val="666666"/>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rgbClr val="1E2A44"/>
                </a:solidFill>
                <a:latin typeface="Cambria" pitchFamily="34" charset="0"/>
                <a:ea typeface="Cambria" pitchFamily="34" charset="-122"/>
                <a:cs typeface="Cambria" pitchFamily="34" charset="-120"/>
              </a:rPr>
              <a:t>Do Handcrafted Features Actually Help?</a:t>
            </a:r>
            <a:endParaRPr lang="en-US" sz="2800" dirty="0"/>
          </a:p>
        </p:txBody>
      </p:sp>
      <p:sp>
        <p:nvSpPr>
          <p:cNvPr id="4" name="Shape 2"/>
          <p:cNvSpPr/>
          <p:nvPr/>
        </p:nvSpPr>
        <p:spPr>
          <a:xfrm>
            <a:off x="548640" y="1143000"/>
            <a:ext cx="11064240" cy="0"/>
          </a:xfrm>
          <a:prstGeom prst="line">
            <a:avLst/>
          </a:prstGeom>
          <a:noFill/>
          <a:ln w="12700">
            <a:solidFill>
              <a:srgbClr val="CCCCCC"/>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3291840"/>
                <a:gridCol w="2651760"/>
                <a:gridCol w="2743200"/>
                <a:gridCol w="2377440"/>
              </a:tblGrid>
              <a:tr h="548640">
                <a:tc>
                  <a:txBody>
                    <a:bodyPr/>
                    <a:lstStyle/>
                    <a:p>
                      <a:pPr algn="ctr" indent="0" marL="0">
                        <a:buNone/>
                      </a:pPr>
                      <a:r>
                        <a:rPr lang="en-US" sz="1500" b="1" dirty="0">
                          <a:solidFill>
                            <a:srgbClr val="1A1A1A"/>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500" b="1" dirty="0">
                          <a:solidFill>
                            <a:srgbClr val="1A1A1A"/>
                          </a:solidFill>
                          <a:latin typeface="Calibri" pitchFamily="34" charset="0"/>
                          <a:ea typeface="Calibri" pitchFamily="34" charset="-122"/>
                          <a:cs typeface="Calibri" pitchFamily="34" charset="-120"/>
                        </a:rPr>
                        <a:t>Test Acc. (TF-IDF)</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500" b="1" dirty="0">
                          <a:solidFill>
                            <a:srgbClr val="1A1A1A"/>
                          </a:solidFill>
                          <a:latin typeface="Calibri" pitchFamily="34" charset="0"/>
                          <a:ea typeface="Calibri" pitchFamily="34" charset="-122"/>
                          <a:cs typeface="Calibri" pitchFamily="34" charset="-120"/>
                        </a:rPr>
                        <a:t>Test Acc. (Enhanced)</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500" b="1" dirty="0">
                          <a:solidFill>
                            <a:srgbClr val="1A1A1A"/>
                          </a:solidFill>
                          <a:latin typeface="Calibri" pitchFamily="34" charset="0"/>
                          <a:ea typeface="Calibri" pitchFamily="34" charset="-122"/>
                          <a:cs typeface="Calibri" pitchFamily="34" charset="-120"/>
                        </a:rPr>
                        <a:t>Change</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r>
              <a:tr h="548640">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Logistic Regression</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0.9843</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0.9839</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-0.0004</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548640">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Random Forest</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0.9720</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0.9744</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A1A1A"/>
                          </a:solidFill>
                          <a:latin typeface="Calibri" pitchFamily="34" charset="0"/>
                          <a:ea typeface="Calibri" pitchFamily="34" charset="-122"/>
                          <a:cs typeface="Calibri" pitchFamily="34" charset="-120"/>
                        </a:rPr>
                        <a:t>+0.0024</a:t>
                      </a:r>
                      <a:endParaRPr lang="en-US" sz="15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3611880"/>
            <a:ext cx="11064240" cy="2468880"/>
          </a:xfrm>
          <a:prstGeom prst="rect">
            <a:avLst/>
          </a:prstGeom>
          <a:noFill/>
          <a:ln/>
        </p:spPr>
        <p:txBody>
          <a:bodyPr wrap="square" lIns="0" tIns="0" rIns="0" bIns="0" rtlCol="0" anchor="t"/>
          <a:lstStyle/>
          <a:p>
            <a:pPr algn="l"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Logistic Regression: essentially flat. Two new columns get added alongside 10,000 existing TF-IDF weights — too small in relative influence to move an already-accurate linear boundary.</a:t>
            </a:r>
            <a:endParaRPr lang="en-US" sz="1400" dirty="0"/>
          </a:p>
          <a:p>
            <a:pPr algn="l" marL="228600" indent="-228600">
              <a:spcAft>
                <a:spcPts val="1000"/>
              </a:spcAft>
              <a:buSzPct val="100000"/>
              <a:buChar char="•"/>
            </a:pPr>
            <a:r>
              <a:rPr lang="en-US" sz="1400" dirty="0">
                <a:solidFill>
                  <a:srgbClr val="1A1A1A"/>
                </a:solidFill>
                <a:latin typeface="Calibri" pitchFamily="34" charset="0"/>
                <a:ea typeface="Calibri" pitchFamily="34" charset="-122"/>
                <a:cs typeface="Calibri" pitchFamily="34" charset="-120"/>
              </a:rPr>
              <a:t>Random Forest: a real, if modest, gain. A tree can split directly on a raw text_length or exclamation_count value — a mechanism a linear model doesn't have.</a:t>
            </a:r>
            <a:endParaRPr lang="en-US" sz="1400" dirty="0"/>
          </a:p>
          <a:p>
            <a:pPr algn="l" marL="228600" indent="-228600">
              <a:spcAft>
                <a:spcPts val="1000"/>
              </a:spcAft>
              <a:buSzPct val="100000"/>
              <a:buChar char="•"/>
            </a:pPr>
            <a:r>
              <a:rPr lang="en-US" sz="1400" b="1" dirty="0">
                <a:solidFill>
                  <a:srgbClr val="1E2A44"/>
                </a:solidFill>
                <a:latin typeface="Calibri" pitchFamily="34" charset="0"/>
                <a:ea typeface="Calibri" pitchFamily="34" charset="-122"/>
                <a:cs typeface="Calibri" pitchFamily="34" charset="-120"/>
              </a:rPr>
              <a:t>Conclusion: engineered features help the model that can act on them directly, and do effectively nothing for the one that can't.</a:t>
            </a:r>
            <a:endParaRPr lang="en-US" sz="1400" dirty="0"/>
          </a:p>
        </p:txBody>
      </p:sp>
      <p:sp>
        <p:nvSpPr>
          <p:cNvPr id="7" name="Text 4"/>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11064240" cy="274320"/>
          </a:xfrm>
          <a:prstGeom prst="rect">
            <a:avLst/>
          </a:prstGeom>
          <a:noFill/>
          <a:ln/>
        </p:spPr>
        <p:txBody>
          <a:bodyPr wrap="square" lIns="0" tIns="0" rIns="0" bIns="0" rtlCol="0" anchor="ctr"/>
          <a:lstStyle/>
          <a:p>
            <a:pPr algn="l" indent="0" marL="0">
              <a:buNone/>
            </a:pPr>
            <a:r>
              <a:rPr lang="en-US" sz="1100" b="1" spc="100" kern="0" dirty="0">
                <a:solidFill>
                  <a:srgbClr val="666666"/>
                </a:solidFill>
                <a:latin typeface="Calibri" pitchFamily="34" charset="0"/>
                <a:ea typeface="Calibri" pitchFamily="34" charset="-122"/>
                <a:cs typeface="Calibri" pitchFamily="34" charset="-120"/>
              </a:rPr>
              <a:t>DISCUSSION</a:t>
            </a:r>
            <a:endParaRPr lang="en-US" sz="1100" dirty="0"/>
          </a:p>
        </p:txBody>
      </p:sp>
      <p:sp>
        <p:nvSpPr>
          <p:cNvPr id="3" name="Text 1"/>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rgbClr val="1E2A44"/>
                </a:solidFill>
                <a:latin typeface="Cambria" pitchFamily="34" charset="0"/>
                <a:ea typeface="Cambria" pitchFamily="34" charset="-122"/>
                <a:cs typeface="Cambria" pitchFamily="34" charset="-120"/>
              </a:rPr>
              <a:t>Error Analysis — Which False Is Costlier?</a:t>
            </a:r>
            <a:endParaRPr lang="en-US" sz="2800" dirty="0"/>
          </a:p>
        </p:txBody>
      </p:sp>
      <p:sp>
        <p:nvSpPr>
          <p:cNvPr id="4" name="Shape 2"/>
          <p:cNvSpPr/>
          <p:nvPr/>
        </p:nvSpPr>
        <p:spPr>
          <a:xfrm>
            <a:off x="548640" y="1143000"/>
            <a:ext cx="11064240" cy="0"/>
          </a:xfrm>
          <a:prstGeom prst="line">
            <a:avLst/>
          </a:prstGeom>
          <a:noFill/>
          <a:ln w="12700">
            <a:solidFill>
              <a:srgbClr val="CCCCCC"/>
            </a:solidFill>
            <a:prstDash val="solid"/>
          </a:ln>
        </p:spPr>
      </p:sp>
      <p:sp>
        <p:nvSpPr>
          <p:cNvPr id="5" name="Text 3"/>
          <p:cNvSpPr/>
          <p:nvPr/>
        </p:nvSpPr>
        <p:spPr>
          <a:xfrm>
            <a:off x="914400" y="1691640"/>
            <a:ext cx="2286000" cy="914400"/>
          </a:xfrm>
          <a:prstGeom prst="rect">
            <a:avLst/>
          </a:prstGeom>
          <a:noFill/>
          <a:ln/>
        </p:spPr>
        <p:txBody>
          <a:bodyPr wrap="square" lIns="0" tIns="0" rIns="0" bIns="0" rtlCol="0" anchor="ctr"/>
          <a:lstStyle/>
          <a:p>
            <a:pPr algn="ctr" indent="0" marL="0">
              <a:buNone/>
            </a:pPr>
            <a:r>
              <a:rPr lang="en-US" sz="6000" b="1" dirty="0">
                <a:solidFill>
                  <a:srgbClr val="1E2A44"/>
                </a:solidFill>
                <a:latin typeface="Cambria" pitchFamily="34" charset="0"/>
                <a:ea typeface="Cambria" pitchFamily="34" charset="-122"/>
                <a:cs typeface="Cambria" pitchFamily="34" charset="-120"/>
              </a:rPr>
              <a:t>80</a:t>
            </a:r>
            <a:endParaRPr lang="en-US" sz="6000" dirty="0"/>
          </a:p>
        </p:txBody>
      </p:sp>
      <p:sp>
        <p:nvSpPr>
          <p:cNvPr id="6" name="Text 4"/>
          <p:cNvSpPr/>
          <p:nvPr/>
        </p:nvSpPr>
        <p:spPr>
          <a:xfrm>
            <a:off x="457200" y="2788920"/>
            <a:ext cx="3200400" cy="640080"/>
          </a:xfrm>
          <a:prstGeom prst="rect">
            <a:avLst/>
          </a:prstGeom>
          <a:noFill/>
          <a:ln/>
        </p:spPr>
        <p:txBody>
          <a:bodyPr wrap="square" lIns="0" tIns="0" rIns="0" bIns="0" rtlCol="0" anchor="ctr"/>
          <a:lstStyle/>
          <a:p>
            <a:pPr algn="ctr" indent="0" marL="0">
              <a:buNone/>
            </a:pPr>
            <a:r>
              <a:rPr lang="en-US" sz="1300" dirty="0">
                <a:solidFill>
                  <a:srgbClr val="666666"/>
                </a:solidFill>
                <a:latin typeface="Calibri" pitchFamily="34" charset="0"/>
                <a:ea typeface="Calibri" pitchFamily="34" charset="-122"/>
                <a:cs typeface="Calibri" pitchFamily="34" charset="-120"/>
              </a:rPr>
              <a:t>False Positives</a:t>
            </a:r>
            <a:endParaRPr lang="en-US" sz="1300" dirty="0"/>
          </a:p>
          <a:p>
            <a:pPr algn="ctr" indent="0" marL="0">
              <a:buNone/>
            </a:pPr>
            <a:r>
              <a:rPr lang="en-US" sz="1300" dirty="0">
                <a:solidFill>
                  <a:srgbClr val="666666"/>
                </a:solidFill>
                <a:latin typeface="Calibri" pitchFamily="34" charset="0"/>
                <a:ea typeface="Calibri" pitchFamily="34" charset="-122"/>
                <a:cs typeface="Calibri" pitchFamily="34" charset="-120"/>
              </a:rPr>
              <a:t>(real news flagged Fake)</a:t>
            </a:r>
            <a:endParaRPr lang="en-US" sz="1300" dirty="0"/>
          </a:p>
        </p:txBody>
      </p:sp>
      <p:sp>
        <p:nvSpPr>
          <p:cNvPr id="7" name="Text 5"/>
          <p:cNvSpPr/>
          <p:nvPr/>
        </p:nvSpPr>
        <p:spPr>
          <a:xfrm>
            <a:off x="8503920" y="1691640"/>
            <a:ext cx="2286000" cy="914400"/>
          </a:xfrm>
          <a:prstGeom prst="rect">
            <a:avLst/>
          </a:prstGeom>
          <a:noFill/>
          <a:ln/>
        </p:spPr>
        <p:txBody>
          <a:bodyPr wrap="square" lIns="0" tIns="0" rIns="0" bIns="0" rtlCol="0" anchor="ctr"/>
          <a:lstStyle/>
          <a:p>
            <a:pPr algn="ctr" indent="0" marL="0">
              <a:buNone/>
            </a:pPr>
            <a:r>
              <a:rPr lang="en-US" sz="6000" b="1" dirty="0">
                <a:solidFill>
                  <a:srgbClr val="1E2A44"/>
                </a:solidFill>
                <a:latin typeface="Cambria" pitchFamily="34" charset="0"/>
                <a:ea typeface="Cambria" pitchFamily="34" charset="-122"/>
                <a:cs typeface="Cambria" pitchFamily="34" charset="-120"/>
              </a:rPr>
              <a:t>46</a:t>
            </a:r>
            <a:endParaRPr lang="en-US" sz="6000" dirty="0"/>
          </a:p>
        </p:txBody>
      </p:sp>
      <p:sp>
        <p:nvSpPr>
          <p:cNvPr id="8" name="Text 6"/>
          <p:cNvSpPr/>
          <p:nvPr/>
        </p:nvSpPr>
        <p:spPr>
          <a:xfrm>
            <a:off x="8046720" y="2788920"/>
            <a:ext cx="3200400" cy="640080"/>
          </a:xfrm>
          <a:prstGeom prst="rect">
            <a:avLst/>
          </a:prstGeom>
          <a:noFill/>
          <a:ln/>
        </p:spPr>
        <p:txBody>
          <a:bodyPr wrap="square" lIns="0" tIns="0" rIns="0" bIns="0" rtlCol="0" anchor="ctr"/>
          <a:lstStyle/>
          <a:p>
            <a:pPr algn="ctr" indent="0" marL="0">
              <a:buNone/>
            </a:pPr>
            <a:r>
              <a:rPr lang="en-US" sz="1300" dirty="0">
                <a:solidFill>
                  <a:srgbClr val="666666"/>
                </a:solidFill>
                <a:latin typeface="Calibri" pitchFamily="34" charset="0"/>
                <a:ea typeface="Calibri" pitchFamily="34" charset="-122"/>
                <a:cs typeface="Calibri" pitchFamily="34" charset="-120"/>
              </a:rPr>
              <a:t>False Negatives</a:t>
            </a:r>
            <a:endParaRPr lang="en-US" sz="1300" dirty="0"/>
          </a:p>
          <a:p>
            <a:pPr algn="ctr" indent="0" marL="0">
              <a:buNone/>
            </a:pPr>
            <a:r>
              <a:rPr lang="en-US" sz="1300" dirty="0">
                <a:solidFill>
                  <a:srgbClr val="666666"/>
                </a:solidFill>
                <a:latin typeface="Calibri" pitchFamily="34" charset="0"/>
                <a:ea typeface="Calibri" pitchFamily="34" charset="-122"/>
                <a:cs typeface="Calibri" pitchFamily="34" charset="-120"/>
              </a:rPr>
              <a:t>(fake news flagged True)</a:t>
            </a:r>
            <a:endParaRPr lang="en-US" sz="1300" dirty="0"/>
          </a:p>
        </p:txBody>
      </p:sp>
      <p:sp>
        <p:nvSpPr>
          <p:cNvPr id="9" name="Text 7"/>
          <p:cNvSpPr/>
          <p:nvPr/>
        </p:nvSpPr>
        <p:spPr>
          <a:xfrm>
            <a:off x="3931920" y="1691640"/>
            <a:ext cx="4297680" cy="2926080"/>
          </a:xfrm>
          <a:prstGeom prst="rect">
            <a:avLst/>
          </a:prstGeom>
          <a:noFill/>
          <a:ln/>
        </p:spPr>
        <p:txBody>
          <a:bodyPr wrap="square" lIns="0" tIns="0" rIns="0" bIns="0" rtlCol="0" anchor="t"/>
          <a:lstStyle/>
          <a:p>
            <a:pPr algn="l" marL="228600" indent="-2286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These two error types are not equally costly. A false negative lets fabricated content reach a reader unlabeled, where it can shape a real decision or belief before anyone corrects it.</a:t>
            </a:r>
            <a:endParaRPr lang="en-US" sz="1300" dirty="0"/>
          </a:p>
          <a:p>
            <a:pPr algn="l" marL="228600" indent="-2286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A false positive wrongly flags a real article — a cost too, but one a human reviewer can typically catch and reverse.</a:t>
            </a:r>
            <a:endParaRPr lang="en-US" sz="1300" dirty="0"/>
          </a:p>
          <a:p>
            <a:pPr algn="l" marL="228600" indent="-2286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This model's actual error mix (80 FP vs 46 FN, roughly 1.7-to-1) leans toward the safer failure direction for this task.</a:t>
            </a:r>
            <a:endParaRPr lang="en-US" sz="1300" dirty="0"/>
          </a:p>
        </p:txBody>
      </p:sp>
      <p:sp>
        <p:nvSpPr>
          <p:cNvPr id="10" name="Text 8"/>
          <p:cNvSpPr/>
          <p:nvPr/>
        </p:nvSpPr>
        <p:spPr>
          <a:xfrm>
            <a:off x="548640" y="5029200"/>
            <a:ext cx="11064240" cy="822960"/>
          </a:xfrm>
          <a:prstGeom prst="rect">
            <a:avLst/>
          </a:prstGeom>
          <a:noFill/>
          <a:ln/>
        </p:spPr>
        <p:txBody>
          <a:bodyPr wrap="square" lIns="0" tIns="0" rIns="0" bIns="0" rtlCol="0" anchor="ctr"/>
          <a:lstStyle/>
          <a:p>
            <a:pPr indent="0" marL="0">
              <a:buNone/>
            </a:pPr>
            <a:r>
              <a:rPr lang="en-US" sz="1300" i="1" dirty="0">
                <a:solidFill>
                  <a:srgbClr val="666666"/>
                </a:solidFill>
                <a:latin typeface="Calibri" pitchFamily="34" charset="0"/>
                <a:ea typeface="Calibri" pitchFamily="34" charset="-122"/>
                <a:cs typeface="Calibri" pitchFamily="34" charset="-120"/>
              </a:rPr>
              <a:t>Two of the three sampled false negatives were genuine Reuters pieces critical of Donald Trump — the opinionated vocabulary may have pulled a correctly-sourced article toward a wrong prediction.</a:t>
            </a:r>
            <a:endParaRPr lang="en-US" sz="1300" dirty="0"/>
          </a:p>
        </p:txBody>
      </p:sp>
      <p:sp>
        <p:nvSpPr>
          <p:cNvPr id="11" name="Text 9"/>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11064240" cy="274320"/>
          </a:xfrm>
          <a:prstGeom prst="rect">
            <a:avLst/>
          </a:prstGeom>
          <a:noFill/>
          <a:ln/>
        </p:spPr>
        <p:txBody>
          <a:bodyPr wrap="square" lIns="0" tIns="0" rIns="0" bIns="0" rtlCol="0" anchor="ctr"/>
          <a:lstStyle/>
          <a:p>
            <a:pPr algn="l" indent="0" marL="0">
              <a:buNone/>
            </a:pPr>
            <a:r>
              <a:rPr lang="en-US" sz="1100" b="1" spc="100" kern="0" dirty="0">
                <a:solidFill>
                  <a:srgbClr val="666666"/>
                </a:solidFill>
                <a:latin typeface="Calibri" pitchFamily="34" charset="0"/>
                <a:ea typeface="Calibri" pitchFamily="34" charset="-122"/>
                <a:cs typeface="Calibri" pitchFamily="34" charset="-120"/>
              </a:rPr>
              <a:t>DISCUSSION</a:t>
            </a:r>
            <a:endParaRPr lang="en-US" sz="1100" dirty="0"/>
          </a:p>
        </p:txBody>
      </p:sp>
      <p:sp>
        <p:nvSpPr>
          <p:cNvPr id="3" name="Text 1"/>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rgbClr val="1E2A44"/>
                </a:solidFill>
                <a:latin typeface="Cambria" pitchFamily="34" charset="0"/>
                <a:ea typeface="Cambria" pitchFamily="34" charset="-122"/>
                <a:cs typeface="Cambria" pitchFamily="34" charset="-120"/>
              </a:rPr>
              <a:t>Custom Prediction — A Quick Sanity Check</a:t>
            </a:r>
            <a:endParaRPr lang="en-US" sz="2800" dirty="0"/>
          </a:p>
        </p:txBody>
      </p:sp>
      <p:sp>
        <p:nvSpPr>
          <p:cNvPr id="4" name="Shape 2"/>
          <p:cNvSpPr/>
          <p:nvPr/>
        </p:nvSpPr>
        <p:spPr>
          <a:xfrm>
            <a:off x="548640" y="1143000"/>
            <a:ext cx="11064240" cy="0"/>
          </a:xfrm>
          <a:prstGeom prst="line">
            <a:avLst/>
          </a:prstGeom>
          <a:noFill/>
          <a:ln w="12700">
            <a:solidFill>
              <a:srgbClr val="CCCCCC"/>
            </a:solidFill>
            <a:prstDash val="solid"/>
          </a:ln>
        </p:spPr>
      </p:sp>
      <p:sp>
        <p:nvSpPr>
          <p:cNvPr id="5" name="Shape 3"/>
          <p:cNvSpPr/>
          <p:nvPr/>
        </p:nvSpPr>
        <p:spPr>
          <a:xfrm>
            <a:off x="548640" y="1463040"/>
            <a:ext cx="11064240" cy="1188720"/>
          </a:xfrm>
          <a:prstGeom prst="roundRect">
            <a:avLst>
              <a:gd name="adj" fmla="val 4615"/>
            </a:avLst>
          </a:prstGeom>
          <a:solidFill>
            <a:srgbClr val="F5F5F5"/>
          </a:solidFill>
          <a:ln w="9525">
            <a:solidFill>
              <a:srgbClr val="CCCCCC"/>
            </a:solidFill>
            <a:prstDash val="solid"/>
          </a:ln>
        </p:spPr>
      </p:sp>
      <p:sp>
        <p:nvSpPr>
          <p:cNvPr id="6" name="Text 4"/>
          <p:cNvSpPr/>
          <p:nvPr/>
        </p:nvSpPr>
        <p:spPr>
          <a:xfrm>
            <a:off x="822960" y="1600200"/>
            <a:ext cx="10515600" cy="914400"/>
          </a:xfrm>
          <a:prstGeom prst="rect">
            <a:avLst/>
          </a:prstGeom>
          <a:noFill/>
          <a:ln/>
        </p:spPr>
        <p:txBody>
          <a:bodyPr wrap="square" lIns="0" tIns="0" rIns="0" bIns="0" rtlCol="0" anchor="ctr"/>
          <a:lstStyle/>
          <a:p>
            <a:pPr algn="l" indent="0" marL="0">
              <a:buNone/>
            </a:pPr>
            <a:r>
              <a:rPr lang="en-US" sz="1500" i="1" dirty="0">
                <a:solidFill>
                  <a:srgbClr val="1A1A1A"/>
                </a:solidFill>
                <a:latin typeface="Calibri" pitchFamily="34" charset="0"/>
                <a:ea typeface="Calibri" pitchFamily="34" charset="-122"/>
                <a:cs typeface="Calibri" pitchFamily="34" charset="-120"/>
              </a:rPr>
              <a:t>“New Study Reveals That Eating Chocolate While Listening To Mozart Makes You 45% Smarter...”</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880360"/>
          <a:ext cx="11064240" cy="914400"/>
        </p:xfrm>
        <a:graphic>
          <a:graphicData uri="http://schemas.openxmlformats.org/drawingml/2006/table">
            <a:tbl>
              <a:tblPr/>
              <a:tblGrid>
                <a:gridCol w="6400800"/>
                <a:gridCol w="4663440"/>
              </a:tblGrid>
              <a:tr h="384048">
                <a:tc>
                  <a:txBody>
                    <a:bodyPr/>
                    <a:lstStyle/>
                    <a:p>
                      <a:pPr algn="ctr" indent="0" marL="0">
                        <a:buNone/>
                      </a:pPr>
                      <a:r>
                        <a:rPr lang="en-US" sz="1300" b="1" dirty="0">
                          <a:solidFill>
                            <a:srgbClr val="1A1A1A"/>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c>
                  <a:txBody>
                    <a:bodyPr/>
                    <a:lstStyle/>
                    <a:p>
                      <a:pPr algn="ctr" indent="0" marL="0">
                        <a:buNone/>
                      </a:pPr>
                      <a:r>
                        <a:rPr lang="en-US" sz="1300" b="1" dirty="0">
                          <a:solidFill>
                            <a:srgbClr val="1A1A1A"/>
                          </a:solidFill>
                          <a:latin typeface="Calibri" pitchFamily="34" charset="0"/>
                          <a:ea typeface="Calibri" pitchFamily="34" charset="-122"/>
                          <a:cs typeface="Calibri" pitchFamily="34" charset="-120"/>
                        </a:rPr>
                        <a:t>Prediction</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8E8E8"/>
                    </a:solidFill>
                  </a:tcPr>
                </a:tc>
              </a:tr>
              <a:tr h="384048">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KNN</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Fake</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Logistic Regression</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Fake</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Fake</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Neural Network</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Fake</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Logistic Regression (Enhanced)</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Fake</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A1A1A"/>
                          </a:solidFill>
                          <a:latin typeface="Calibri" pitchFamily="34" charset="0"/>
                          <a:ea typeface="Calibri" pitchFamily="34" charset="-122"/>
                          <a:cs typeface="Calibri" pitchFamily="34" charset="-120"/>
                        </a:rPr>
                        <a:t>Random Forest (Enhanced)</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A1A"/>
                          </a:solidFill>
                          <a:latin typeface="Calibri" pitchFamily="34" charset="0"/>
                          <a:ea typeface="Calibri" pitchFamily="34" charset="-122"/>
                          <a:cs typeface="Calibri" pitchFamily="34" charset="-120"/>
                        </a:rPr>
                        <a:t>True</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8" name="Text 5"/>
          <p:cNvSpPr/>
          <p:nvPr/>
        </p:nvSpPr>
        <p:spPr>
          <a:xfrm>
            <a:off x="548640" y="5806440"/>
            <a:ext cx="11064240" cy="822960"/>
          </a:xfrm>
          <a:prstGeom prst="rect">
            <a:avLst/>
          </a:prstGeom>
          <a:noFill/>
          <a:ln/>
        </p:spPr>
        <p:txBody>
          <a:bodyPr wrap="square" lIns="0" tIns="0" rIns="0" bIns="0" rtlCol="0" anchor="ctr"/>
          <a:lstStyle/>
          <a:p>
            <a:pPr indent="0" marL="0">
              <a:buNone/>
            </a:pPr>
            <a:r>
              <a:rPr lang="en-US" sz="1200" i="1" dirty="0">
                <a:solidFill>
                  <a:srgbClr val="666666"/>
                </a:solidFill>
                <a:latin typeface="Calibri" pitchFamily="34" charset="0"/>
                <a:ea typeface="Calibri" pitchFamily="34" charset="-122"/>
                <a:cs typeface="Calibri" pitchFamily="34" charset="-120"/>
              </a:rPr>
              <a:t>Only Random Forest (Enhanced) got it wrong — this snippet has zero exclamation marks and ordinary length, giving that model less to work with on the two features it relies on. One example proves nothing statistically, but it shows why comparing several models beats trusting just one.</a:t>
            </a:r>
            <a:endParaRPr lang="en-US" sz="1200" dirty="0"/>
          </a:p>
        </p:txBody>
      </p:sp>
      <p:sp>
        <p:nvSpPr>
          <p:cNvPr id="9" name="Text 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11064240" cy="274320"/>
          </a:xfrm>
          <a:prstGeom prst="rect">
            <a:avLst/>
          </a:prstGeom>
          <a:noFill/>
          <a:ln/>
        </p:spPr>
        <p:txBody>
          <a:bodyPr wrap="square" lIns="0" tIns="0" rIns="0" bIns="0" rtlCol="0" anchor="ctr"/>
          <a:lstStyle/>
          <a:p>
            <a:pPr algn="l" indent="0" marL="0">
              <a:buNone/>
            </a:pPr>
            <a:r>
              <a:rPr lang="en-US" sz="1100" b="1" spc="100" kern="0" dirty="0">
                <a:solidFill>
                  <a:srgbClr val="666666"/>
                </a:solidFill>
                <a:latin typeface="Calibri" pitchFamily="34" charset="0"/>
                <a:ea typeface="Calibri" pitchFamily="34" charset="-122"/>
                <a:cs typeface="Calibri" pitchFamily="34" charset="-120"/>
              </a:rPr>
              <a:t>CONCLUSION</a:t>
            </a:r>
            <a:endParaRPr lang="en-US" sz="1100" dirty="0"/>
          </a:p>
        </p:txBody>
      </p:sp>
      <p:sp>
        <p:nvSpPr>
          <p:cNvPr id="3" name="Text 1"/>
          <p:cNvSpPr/>
          <p:nvPr/>
        </p:nvSpPr>
        <p:spPr>
          <a:xfrm>
            <a:off x="548640" y="365760"/>
            <a:ext cx="11064240" cy="731520"/>
          </a:xfrm>
          <a:prstGeom prst="rect">
            <a:avLst/>
          </a:prstGeom>
          <a:noFill/>
          <a:ln/>
        </p:spPr>
        <p:txBody>
          <a:bodyPr wrap="square" lIns="0" tIns="0" rIns="0" bIns="0" rtlCol="0" anchor="ctr"/>
          <a:lstStyle/>
          <a:p>
            <a:pPr algn="l" indent="0" marL="0">
              <a:buNone/>
            </a:pPr>
            <a:r>
              <a:rPr lang="en-US" sz="2800" b="1" dirty="0">
                <a:solidFill>
                  <a:srgbClr val="1E2A44"/>
                </a:solidFill>
                <a:latin typeface="Cambria" pitchFamily="34" charset="0"/>
                <a:ea typeface="Cambria" pitchFamily="34" charset="-122"/>
                <a:cs typeface="Cambria" pitchFamily="34" charset="-120"/>
              </a:rPr>
              <a:t>Summary, Limitations &amp; Future Scope</a:t>
            </a:r>
            <a:endParaRPr lang="en-US" sz="2800" dirty="0"/>
          </a:p>
        </p:txBody>
      </p:sp>
      <p:sp>
        <p:nvSpPr>
          <p:cNvPr id="4" name="Shape 2"/>
          <p:cNvSpPr/>
          <p:nvPr/>
        </p:nvSpPr>
        <p:spPr>
          <a:xfrm>
            <a:off x="548640" y="1143000"/>
            <a:ext cx="11064240" cy="0"/>
          </a:xfrm>
          <a:prstGeom prst="line">
            <a:avLst/>
          </a:prstGeom>
          <a:noFill/>
          <a:ln w="12700">
            <a:solidFill>
              <a:srgbClr val="CCCCCC"/>
            </a:solidFill>
            <a:prstDash val="solid"/>
          </a:ln>
        </p:spPr>
      </p:sp>
      <p:sp>
        <p:nvSpPr>
          <p:cNvPr id="5" name="Text 3"/>
          <p:cNvSpPr/>
          <p:nvPr/>
        </p:nvSpPr>
        <p:spPr>
          <a:xfrm>
            <a:off x="548640" y="1417320"/>
            <a:ext cx="5212080" cy="320040"/>
          </a:xfrm>
          <a:prstGeom prst="rect">
            <a:avLst/>
          </a:prstGeom>
          <a:noFill/>
          <a:ln/>
        </p:spPr>
        <p:txBody>
          <a:bodyPr wrap="square" lIns="0" tIns="0" rIns="0" bIns="0" rtlCol="0" anchor="ctr"/>
          <a:lstStyle/>
          <a:p>
            <a:pPr indent="0" marL="0">
              <a:buNone/>
            </a:pPr>
            <a:r>
              <a:rPr lang="en-US" sz="1500" b="1" dirty="0">
                <a:solidFill>
                  <a:srgbClr val="1E2A44"/>
                </a:solidFill>
                <a:latin typeface="Calibri" pitchFamily="34" charset="0"/>
                <a:ea typeface="Calibri" pitchFamily="34" charset="-122"/>
                <a:cs typeface="Calibri" pitchFamily="34" charset="-120"/>
              </a:rPr>
              <a:t>Key Takeaways</a:t>
            </a:r>
            <a:endParaRPr lang="en-US" sz="1500" dirty="0"/>
          </a:p>
        </p:txBody>
      </p:sp>
      <p:sp>
        <p:nvSpPr>
          <p:cNvPr id="6" name="Text 4"/>
          <p:cNvSpPr/>
          <p:nvPr/>
        </p:nvSpPr>
        <p:spPr>
          <a:xfrm>
            <a:off x="548640" y="1828800"/>
            <a:ext cx="5394960" cy="4114800"/>
          </a:xfrm>
          <a:prstGeom prst="rect">
            <a:avLst/>
          </a:prstGeom>
          <a:noFill/>
          <a:ln/>
        </p:spPr>
        <p:txBody>
          <a:bodyPr wrap="square" lIns="0" tIns="0" rIns="0" bIns="0" rtlCol="0" anchor="t"/>
          <a:lstStyle/>
          <a:p>
            <a:pPr algn="l" marL="228600" indent="-2286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Bag-of-Words + Logistic Regression was the strongest configuration tested, at 99.37% test accuracy.</a:t>
            </a:r>
            <a:endParaRPr lang="en-US" sz="1300" dirty="0"/>
          </a:p>
          <a:p>
            <a:pPr algn="l" marL="228600" indent="-2286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Handcrafted features help the model that can act on them directly (Random Forest), not the one that can't (Logistic Regression).</a:t>
            </a:r>
            <a:endParaRPr lang="en-US" sz="1300" dirty="0"/>
          </a:p>
          <a:p>
            <a:pPr algn="l" marL="228600" indent="-2286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Error mix leans toward the less costly failure type for this task.</a:t>
            </a:r>
            <a:endParaRPr lang="en-US" sz="1300" dirty="0"/>
          </a:p>
          <a:p>
            <a:pPr algn="l" marL="228600" indent="-2286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Part of the model's strongest signal is a source artifact, not a truthfulness signal — an honest limitation, not a hidden strength.</a:t>
            </a:r>
            <a:endParaRPr lang="en-US" sz="1300" dirty="0"/>
          </a:p>
        </p:txBody>
      </p:sp>
      <p:sp>
        <p:nvSpPr>
          <p:cNvPr id="7" name="Text 5"/>
          <p:cNvSpPr/>
          <p:nvPr/>
        </p:nvSpPr>
        <p:spPr>
          <a:xfrm>
            <a:off x="6309360" y="1417320"/>
            <a:ext cx="5303520" cy="320040"/>
          </a:xfrm>
          <a:prstGeom prst="rect">
            <a:avLst/>
          </a:prstGeom>
          <a:noFill/>
          <a:ln/>
        </p:spPr>
        <p:txBody>
          <a:bodyPr wrap="square" lIns="0" tIns="0" rIns="0" bIns="0" rtlCol="0" anchor="ctr"/>
          <a:lstStyle/>
          <a:p>
            <a:pPr indent="0" marL="0">
              <a:buNone/>
            </a:pPr>
            <a:r>
              <a:rPr lang="en-US" sz="1500" b="1" dirty="0">
                <a:solidFill>
                  <a:srgbClr val="1E2A44"/>
                </a:solidFill>
                <a:latin typeface="Calibri" pitchFamily="34" charset="0"/>
                <a:ea typeface="Calibri" pitchFamily="34" charset="-122"/>
                <a:cs typeface="Calibri" pitchFamily="34" charset="-120"/>
              </a:rPr>
              <a:t>Limitations &amp; Next Steps</a:t>
            </a:r>
            <a:endParaRPr lang="en-US" sz="1500" dirty="0"/>
          </a:p>
        </p:txBody>
      </p:sp>
      <p:sp>
        <p:nvSpPr>
          <p:cNvPr id="8" name="Text 6"/>
          <p:cNvSpPr/>
          <p:nvPr/>
        </p:nvSpPr>
        <p:spPr>
          <a:xfrm>
            <a:off x="6309360" y="1828800"/>
            <a:ext cx="5303520" cy="4114800"/>
          </a:xfrm>
          <a:prstGeom prst="rect">
            <a:avLst/>
          </a:prstGeom>
          <a:noFill/>
          <a:ln/>
        </p:spPr>
        <p:txBody>
          <a:bodyPr wrap="square" lIns="0" tIns="0" rIns="0" bIns="0" rtlCol="0" anchor="t"/>
          <a:lstStyle/>
          <a:p>
            <a:pPr algn="l" marL="228600" indent="-2286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English-only, binary classification; TF-IDF/BoW ignore word order entirely</a:t>
            </a:r>
            <a:endParaRPr lang="en-US" sz="1300" dirty="0"/>
          </a:p>
          <a:p>
            <a:pPr algn="l" marL="228600" indent="-2286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Word2Vec vectors are static, not contextual</a:t>
            </a:r>
            <a:endParaRPr lang="en-US" sz="1300" dirty="0"/>
          </a:p>
          <a:p>
            <a:pPr algn="l" marL="228600" indent="-2286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has_url was measured but never used in the enhanced feature set</a:t>
            </a:r>
            <a:endParaRPr lang="en-US" sz="1300" dirty="0"/>
          </a:p>
          <a:p>
            <a:pPr algn="l" marL="228600" indent="-2286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Next: contextual embeddings (BERT/DistilBERT), SHAP/LIME explainability, multi-outlet sourcing to reduce the Reuters artifact</a:t>
            </a:r>
            <a:endParaRPr lang="en-US" sz="1300" dirty="0"/>
          </a:p>
        </p:txBody>
      </p:sp>
      <p:sp>
        <p:nvSpPr>
          <p:cNvPr id="9" name="Text 7"/>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2026-07-26T10:31:48Z</dcterms:created>
  <dcterms:modified xsi:type="dcterms:W3CDTF">2026-07-26T10:31:48Z</dcterms:modified>
</cp:coreProperties>
</file>